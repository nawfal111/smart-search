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0" y="-457200"/>
            <a:ext cx="4572000" cy="4572000"/>
          </a:xfrm>
          <a:prstGeom prst="rect">
            <a:avLst/>
          </a:prstGeom>
          <a:solidFill>
            <a:srgbClr val="1A35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75520" y="365760"/>
            <a:ext cx="3200400" cy="3200400"/>
          </a:xfrm>
          <a:prstGeom prst="rect">
            <a:avLst/>
          </a:prstGeom>
          <a:solidFill>
            <a:srgbClr val="22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84048" y="6419088"/>
            <a:ext cx="237744" cy="237744"/>
          </a:xfrm>
          <a:prstGeom prst="ellipse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9536" y="6419088"/>
            <a:ext cx="237744" cy="237744"/>
          </a:xfrm>
          <a:prstGeom prst="ellipse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35024" y="64190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387EF5"/>
                </a:solidFill>
              </a:rPr>
              <a:t>MASTER'S RESEARCH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874519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7200">
                <a:solidFill>
                  <a:srgbClr val="F8FAFC"/>
                </a:solidFill>
              </a:rPr>
              <a:t>Smart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4290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2200">
                <a:solidFill>
                  <a:srgbClr val="94A3B8"/>
                </a:solidFill>
              </a:rPr>
              <a:t>Semantic Code Search Engine for VS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023360"/>
            <a:ext cx="8686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600">
                <a:solidFill>
                  <a:srgbClr val="3D506A"/>
                </a:solidFill>
              </a:rPr>
              <a:t>Find code by what it does — not what it's called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029200"/>
            <a:ext cx="1645920" cy="36576"/>
          </a:xfrm>
          <a:prstGeom prst="rect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16636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b="1" sz="1300">
                <a:solidFill>
                  <a:srgbClr val="F8FAFC"/>
                </a:solidFill>
              </a:rPr>
              <a:t>Nawfal Jalloul</a:t>
            </a:r>
          </a:p>
          <a:p>
            <a:pPr algn="l">
              <a:lnSpc>
                <a:spcPct val="110000"/>
              </a:lnSpc>
            </a:pPr>
            <a:r>
              <a:rPr b="0" sz="1100">
                <a:solidFill>
                  <a:srgbClr val="94A3B8"/>
                </a:solidFill>
              </a:rPr>
              <a:t>May 2026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F8FAFC"/>
                </a:solidFill>
              </a:rPr>
              <a:t>Traditional Search is Broken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11480" y="1508760"/>
            <a:ext cx="5303520" cy="448056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94A3B8"/>
                </a:solidFill>
              </a:rPr>
              <a:t>You search for...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29968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000">
                <a:solidFill>
                  <a:srgbClr val="F59E0B"/>
                </a:solidFill>
              </a:rPr>
              <a:t>"fetch product
from database"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46120"/>
            <a:ext cx="2011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0">
                <a:solidFill>
                  <a:srgbClr val="F43F5E"/>
                </a:solidFill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6177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F43F5E"/>
                </a:solidFill>
              </a:rPr>
              <a:t>RESULTS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508760"/>
            <a:ext cx="5669280" cy="448056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64208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94A3B8"/>
                </a:solidFill>
              </a:rPr>
              <a:t>The function exists — it's just named differently: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212848"/>
            <a:ext cx="5212080" cy="548640"/>
          </a:xfrm>
          <a:prstGeom prst="roundRect">
            <a:avLst>
              <a:gd name="adj" fmla="val 8000"/>
            </a:avLst>
          </a:prstGeom>
          <a:solidFill>
            <a:srgbClr val="2D3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24942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387EF5"/>
                </a:solidFill>
              </a:rPr>
              <a:t>getProductInfo()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962656"/>
            <a:ext cx="5212080" cy="548640"/>
          </a:xfrm>
          <a:prstGeom prst="roundRect">
            <a:avLst>
              <a:gd name="adj" fmla="val 8000"/>
            </a:avLst>
          </a:prstGeom>
          <a:solidFill>
            <a:srgbClr val="2D3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999232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0DB57C"/>
                </a:solidFill>
              </a:rPr>
              <a:t>retrieveItem()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712463"/>
            <a:ext cx="5212080" cy="548640"/>
          </a:xfrm>
          <a:prstGeom prst="roundRect">
            <a:avLst>
              <a:gd name="adj" fmla="val 8000"/>
            </a:avLst>
          </a:prstGeom>
          <a:solidFill>
            <a:srgbClr val="2D3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749039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59E0B"/>
                </a:solidFill>
              </a:rPr>
              <a:t>fetchFromDatabase()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4462272"/>
            <a:ext cx="5212080" cy="548640"/>
          </a:xfrm>
          <a:prstGeom prst="roundRect">
            <a:avLst>
              <a:gd name="adj" fmla="val 8000"/>
            </a:avLst>
          </a:prstGeom>
          <a:solidFill>
            <a:srgbClr val="2D3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4988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8B5CF6"/>
                </a:solidFill>
              </a:rPr>
              <a:t>loadProductById()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614476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1100">
                <a:solidFill>
                  <a:srgbClr val="3D506A"/>
                </a:solidFill>
              </a:rPr>
              <a:t>Traditional search: 0 matches.   Smart Search: finds them all.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F8FAFC"/>
                </a:solidFill>
              </a:rPr>
              <a:t>Search by Meaning, Not Words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057400"/>
            <a:ext cx="2468880" cy="2468880"/>
          </a:xfrm>
          <a:prstGeom prst="ellipse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468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50">
                <a:solidFill>
                  <a:srgbClr val="F8FAFC"/>
                </a:solidFill>
              </a:rPr>
              <a:t>"fetch product
from database"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091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200">
                <a:solidFill>
                  <a:srgbClr val="94A3B8"/>
                </a:solidFill>
              </a:rPr>
              <a:t>Natural Language
Query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19272" y="3291840"/>
            <a:ext cx="1453896" cy="0"/>
          </a:xfrm>
          <a:prstGeom prst="line">
            <a:avLst/>
          </a:prstGeom>
          <a:ln w="317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4663440" y="3226003.2"/>
            <a:ext cx="109728" cy="65836.79999999981"/>
          </a:xfrm>
          <a:prstGeom prst="line">
            <a:avLst/>
          </a:prstGeom>
          <a:ln w="317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63440" y="3291840"/>
            <a:ext cx="109728" cy="65836.79999999981"/>
          </a:xfrm>
          <a:prstGeom prst="line">
            <a:avLst/>
          </a:prstGeom>
          <a:ln w="317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59836" y="2743200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950">
                <a:solidFill>
                  <a:srgbClr val="F59E0B"/>
                </a:solidFill>
              </a:rPr>
              <a:t>embed via
Voyage AI</a:t>
            </a:r>
          </a:p>
        </p:txBody>
      </p:sp>
      <p:sp>
        <p:nvSpPr>
          <p:cNvPr id="14" name="Oval 13"/>
          <p:cNvSpPr/>
          <p:nvPr/>
        </p:nvSpPr>
        <p:spPr>
          <a:xfrm>
            <a:off x="4846320" y="2057400"/>
            <a:ext cx="2468880" cy="2468880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2057400"/>
            <a:ext cx="2468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50">
                <a:solidFill>
                  <a:srgbClr val="F8FAFC"/>
                </a:solidFill>
              </a:rPr>
              <a:t>1,536-float
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47091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200">
                <a:solidFill>
                  <a:srgbClr val="94A3B8"/>
                </a:solidFill>
              </a:rPr>
              <a:t>Semantic
Vector Space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88352" y="3291840"/>
            <a:ext cx="1453896" cy="0"/>
          </a:xfrm>
          <a:prstGeom prst="line">
            <a:avLst/>
          </a:prstGeom>
          <a:ln w="317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8732520" y="3226003.2"/>
            <a:ext cx="109728" cy="65836.79999999981"/>
          </a:xfrm>
          <a:prstGeom prst="line">
            <a:avLst/>
          </a:prstGeom>
          <a:ln w="317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732520" y="3291840"/>
            <a:ext cx="109728" cy="65836.79999999981"/>
          </a:xfrm>
          <a:prstGeom prst="line">
            <a:avLst/>
          </a:prstGeom>
          <a:ln w="317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28916" y="2743200"/>
            <a:ext cx="1645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1" sz="950">
                <a:solidFill>
                  <a:srgbClr val="F59E0B"/>
                </a:solidFill>
              </a:rPr>
              <a:t>cosine
similarity
(HNSW)</a:t>
            </a:r>
          </a:p>
        </p:txBody>
      </p:sp>
      <p:sp>
        <p:nvSpPr>
          <p:cNvPr id="21" name="Oval 20"/>
          <p:cNvSpPr/>
          <p:nvPr/>
        </p:nvSpPr>
        <p:spPr>
          <a:xfrm>
            <a:off x="8915400" y="2057400"/>
            <a:ext cx="2468880" cy="2468880"/>
          </a:xfrm>
          <a:prstGeom prst="ellipse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400" y="2057400"/>
            <a:ext cx="2468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50">
                <a:solidFill>
                  <a:srgbClr val="F8FAFC"/>
                </a:solidFill>
              </a:rPr>
              <a:t>getProductInfo()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470916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200">
                <a:solidFill>
                  <a:srgbClr val="94A3B8"/>
                </a:solidFill>
              </a:rPr>
              <a:t>Code
Function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86000" y="5577840"/>
            <a:ext cx="7589520" cy="777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387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687568"/>
            <a:ext cx="7223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200">
                <a:solidFill>
                  <a:srgbClr val="F8FAFC"/>
                </a:solidFill>
              </a:rPr>
              <a:t>82% similarity match — even with zero shared words between query and function name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8FAFC"/>
                </a:solidFill>
              </a:rPr>
              <a:t>Three-Layer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" y="1463040"/>
            <a:ext cx="3794760" cy="50292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463040"/>
            <a:ext cx="3794760" cy="54864"/>
          </a:xfrm>
          <a:prstGeom prst="rect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57276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387EF5"/>
                </a:solidFill>
              </a:rPr>
              <a:t>VS Code Extension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94A3B8"/>
                </a:solidFill>
              </a:rPr>
              <a:t>TypeScript / Node.js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2240280"/>
            <a:ext cx="36118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235000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8FAFC"/>
                </a:solidFill>
              </a:rPr>
              <a:t>• File watcher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" y="285292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Code chunker (12 langs)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" y="335584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Hash store — index.json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385876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Two-phase batch indexer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436168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Search UI webview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" y="486460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Status bar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1463040"/>
            <a:ext cx="3794760" cy="50292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1463040"/>
            <a:ext cx="3794760" cy="54864"/>
          </a:xfrm>
          <a:prstGeom prst="rect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1572768"/>
            <a:ext cx="3566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0DB57C"/>
                </a:solidFill>
              </a:rPr>
              <a:t>Python 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1965960"/>
            <a:ext cx="3566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94A3B8"/>
                </a:solidFill>
              </a:rPr>
              <a:t>localhost:8000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7408" y="2240280"/>
            <a:ext cx="36118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17136" y="235000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8FAFC"/>
                </a:solidFill>
              </a:rPr>
              <a:t>• ThreadingHTTPServer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285292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GPT summarizer (parallel)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335584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Voyage AI embedder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7136" y="385876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Pinecone client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436168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Normal search (regex)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4864608"/>
            <a:ext cx="3502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/config · /health · /done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47888" y="1463040"/>
            <a:ext cx="3749039" cy="50292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1463040"/>
            <a:ext cx="3749039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1572768"/>
            <a:ext cx="3520439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59E0B"/>
                </a:solidFill>
              </a:rPr>
              <a:t>Cloud Services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1965960"/>
            <a:ext cx="35204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94A3B8"/>
                </a:solidFill>
              </a:rPr>
              <a:t>External APIs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39328" y="2240280"/>
            <a:ext cx="3566159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9056" y="2350008"/>
            <a:ext cx="34564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8FAFC"/>
                </a:solidFill>
              </a:rPr>
              <a:t>• OpenAI  GPT-4o-mini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9056" y="2852928"/>
            <a:ext cx="34564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Voyage AI  voyage-code-2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9056" y="3355848"/>
            <a:ext cx="34564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Pinecone  (HNSW)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49056" y="4361688"/>
            <a:ext cx="34564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• namespace: {projectId}::{userId}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178808" y="3977639"/>
            <a:ext cx="137160" cy="0"/>
          </a:xfrm>
          <a:prstGeom prst="line">
            <a:avLst/>
          </a:prstGeom>
          <a:ln w="190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 flipV="1">
            <a:off x="4206240" y="3911802.2"/>
            <a:ext cx="109728" cy="65836.79999999981"/>
          </a:xfrm>
          <a:prstGeom prst="line">
            <a:avLst/>
          </a:prstGeom>
          <a:ln w="190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4206240" y="3977639"/>
            <a:ext cx="109728" cy="65836.79999999981"/>
          </a:xfrm>
          <a:prstGeom prst="line">
            <a:avLst/>
          </a:prstGeom>
          <a:ln w="190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133088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800">
                <a:solidFill>
                  <a:srgbClr val="3D506A"/>
                </a:solidFill>
              </a:rPr>
              <a:t>HTTP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110727" y="3977639"/>
            <a:ext cx="137160" cy="0"/>
          </a:xfrm>
          <a:prstGeom prst="line">
            <a:avLst/>
          </a:prstGeom>
          <a:ln w="190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8138159" y="3911802.2"/>
            <a:ext cx="109728" cy="65836.79999999981"/>
          </a:xfrm>
          <a:prstGeom prst="line">
            <a:avLst/>
          </a:prstGeom>
          <a:ln w="190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8138159" y="3977639"/>
            <a:ext cx="109728" cy="65836.79999999981"/>
          </a:xfrm>
          <a:prstGeom prst="line">
            <a:avLst/>
          </a:prstGeom>
          <a:ln w="1905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065007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800">
                <a:solidFill>
                  <a:srgbClr val="3D506A"/>
                </a:solidFill>
              </a:rPr>
              <a:t>API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INDEXING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8FAFC"/>
                </a:solidFill>
              </a:rPr>
              <a:t>From File Save → Pinecone Vector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4652" y="3090672"/>
            <a:ext cx="1133856" cy="1133856"/>
          </a:xfrm>
          <a:prstGeom prst="ellipse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" y="3090672"/>
            <a:ext cx="113385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800">
                <a:solidFill>
                  <a:srgbClr val="F8FAFC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315968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8FAFC"/>
                </a:solidFill>
              </a:rPr>
              <a:t>File
Saved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00176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900">
                <a:solidFill>
                  <a:srgbClr val="94A3B8"/>
                </a:solidFill>
              </a:rPr>
              <a:t>onDidSave
event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33372.0" y="3657600"/>
            <a:ext cx="649224.0" cy="0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2372868.0" y="3591763.2"/>
            <a:ext cx="109728.0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372868.0" y="3657600"/>
            <a:ext cx="109728.0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2537460" y="3090672"/>
            <a:ext cx="1133856" cy="1133856"/>
          </a:xfrm>
          <a:prstGeom prst="ellipse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7460" y="3090672"/>
            <a:ext cx="113385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800">
                <a:solidFill>
                  <a:srgbClr val="F8FAFC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4315968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8FAFC"/>
                </a:solidFill>
              </a:rPr>
              <a:t>Hash
Check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500176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900">
                <a:solidFill>
                  <a:srgbClr val="94A3B8"/>
                </a:solidFill>
              </a:rPr>
              <a:t>MD5 file
+ function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26180.0" y="3657600"/>
            <a:ext cx="649224.0" cy="0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4265676.0" y="3591763.2"/>
            <a:ext cx="109728.0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265676.0" y="3657600"/>
            <a:ext cx="109728.0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4430268" y="3090672"/>
            <a:ext cx="1133856" cy="1133856"/>
          </a:xfrm>
          <a:prstGeom prst="ellipse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0268" y="3090672"/>
            <a:ext cx="113385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800">
                <a:solidFill>
                  <a:srgbClr val="F8FAFC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51376" y="4315968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8FAFC"/>
                </a:solidFill>
              </a:rPr>
              <a:t>Chunk
Functions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97096" y="500176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900">
                <a:solidFill>
                  <a:srgbClr val="94A3B8"/>
                </a:solidFill>
              </a:rPr>
              <a:t>brace/indent
12 langs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18988.0" y="3657600"/>
            <a:ext cx="649224.0" cy="0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6158484.0" y="3591763.2"/>
            <a:ext cx="109728.0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158484.0" y="3657600"/>
            <a:ext cx="109728.0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6323076" y="3090672"/>
            <a:ext cx="1133856" cy="11338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3076" y="3090672"/>
            <a:ext cx="113385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800">
                <a:solidFill>
                  <a:srgbClr val="F8FAFC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44184" y="4315968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8FAFC"/>
                </a:solidFill>
              </a:rPr>
              <a:t>GPT
Summary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9904" y="500176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900">
                <a:solidFill>
                  <a:srgbClr val="94A3B8"/>
                </a:solidFill>
              </a:rPr>
              <a:t>parallel
50 at once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511796.0" y="3657600"/>
            <a:ext cx="649224.0" cy="0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8051292.0" y="3591763.2"/>
            <a:ext cx="109728.0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8051292.0" y="3657600"/>
            <a:ext cx="109728.0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215884" y="3090672"/>
            <a:ext cx="1133856" cy="11338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15884" y="3090672"/>
            <a:ext cx="113385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800">
                <a:solidFill>
                  <a:srgbClr val="F8FAFC"/>
                </a:solidFill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36992" y="4315968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8FAFC"/>
                </a:solidFill>
              </a:rPr>
              <a:t>Embed
1,536 floats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82712" y="500176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900">
                <a:solidFill>
                  <a:srgbClr val="94A3B8"/>
                </a:solidFill>
              </a:rPr>
              <a:t>voyage-
code-2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404604.0" y="3657600"/>
            <a:ext cx="649224.0" cy="0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9944100.0" y="3591763.2"/>
            <a:ext cx="109728.0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9944100.0" y="3657600"/>
            <a:ext cx="109728.0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10108692" y="3090672"/>
            <a:ext cx="1133856" cy="113385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08692" y="3090672"/>
            <a:ext cx="1133856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2800">
                <a:solidFill>
                  <a:srgbClr val="F8FAFC"/>
                </a:solidFill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29800" y="4315968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00">
                <a:solidFill>
                  <a:srgbClr val="F8FAFC"/>
                </a:solidFill>
              </a:rPr>
              <a:t>Pinecone
Upsert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500176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900">
                <a:solidFill>
                  <a:srgbClr val="94A3B8"/>
                </a:solidFill>
              </a:rPr>
              <a:t>namespace
isolation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" y="5806440"/>
            <a:ext cx="11247120" cy="658368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0160">
            <a:solidFill>
              <a:srgbClr val="0DB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916168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8FAFC"/>
                </a:solidFill>
              </a:rPr>
              <a:t>🔒  Crash-safe: index.json saved after every batch — if interrupted, next run resumes from last checkpoint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1480" y="1920240"/>
            <a:ext cx="640080" cy="164592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1920240"/>
            <a:ext cx="640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800">
                <a:solidFill>
                  <a:srgbClr val="387EF5"/>
                </a:solidFill>
              </a:rPr>
              <a:t>SCAN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00800" y="1920240"/>
            <a:ext cx="640080" cy="164592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0" y="1920240"/>
            <a:ext cx="640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800">
                <a:solidFill>
                  <a:srgbClr val="F59E0B"/>
                </a:solidFill>
              </a:rPr>
              <a:t>AI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KEY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600">
                <a:solidFill>
                  <a:srgbClr val="F8FAFC"/>
                </a:solidFill>
              </a:rPr>
              <a:t>GPT Summaries Bridge the Vocabulary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" y="1508760"/>
            <a:ext cx="4114800" cy="256032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276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387EF5"/>
                </a:solidFill>
              </a:rPr>
              <a:t>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886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950">
                <a:solidFill>
                  <a:srgbClr val="0DB57C"/>
                </a:solidFill>
              </a:rPr>
              <a:t>public function getProductInfo($id) {
  $sql = "SELECT * FROM products
          WHERE id = ?";
  $result = $db-&gt;query($sql, [$id]);
  error_log("Fetching: " . $id);
  return $result-&gt;fetch_assoc();
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1325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050">
                <a:solidFill>
                  <a:srgbClr val="F59E0B"/>
                </a:solidFill>
              </a:rPr>
              <a:t>GPT-4o-mini
summarizes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26280" y="2697480"/>
            <a:ext cx="1463040" cy="0"/>
          </a:xfrm>
          <a:prstGeom prst="line">
            <a:avLst/>
          </a:prstGeom>
          <a:ln w="317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5879592" y="2631643.2"/>
            <a:ext cx="109728" cy="65836.79999999981"/>
          </a:xfrm>
          <a:prstGeom prst="line">
            <a:avLst/>
          </a:prstGeom>
          <a:ln w="317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879592" y="2697480"/>
            <a:ext cx="109728" cy="65836.79999999981"/>
          </a:xfrm>
          <a:prstGeom prst="line">
            <a:avLst/>
          </a:prstGeom>
          <a:ln w="317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144768" y="1508760"/>
            <a:ext cx="5486400" cy="256032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62763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F59E0B"/>
                </a:solidFill>
              </a:rPr>
              <a:t>GPT PLAIN-ENGLISH SUMMARY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956816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100">
                <a:solidFill>
                  <a:srgbClr val="F8FAFC"/>
                </a:solidFill>
              </a:rPr>
              <a:t>"Fetches a single product's full details from the
database by its numeric ID. Executes a parameterized
SQL SELECT query on the products table.
Includes error logging of the requested product ID."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4048" y="4297680"/>
            <a:ext cx="11430000" cy="224028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4074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94A3B8"/>
                </a:solidFill>
              </a:rPr>
              <a:t>EMBEDDING SCORE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94A3B8"/>
                </a:solidFill>
              </a:rPr>
              <a:t>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70916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94A3B8"/>
                </a:solidFill>
              </a:rPr>
              <a:t>Without Summary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70916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94A3B8"/>
                </a:solidFill>
              </a:rPr>
              <a:t>With Summary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470916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94A3B8"/>
                </a:solidFill>
              </a:rPr>
              <a:t>Gain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029200"/>
            <a:ext cx="11247120" cy="18288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056632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8FAFC"/>
                </a:solidFill>
              </a:rPr>
              <a:t>"fetch product from database by id"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056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46%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50566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0DB57C"/>
                </a:solidFill>
              </a:rPr>
              <a:t>82%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24160" y="50566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59E0B"/>
                </a:solidFill>
              </a:rPr>
              <a:t>+36%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404104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8FAFC"/>
                </a:solidFill>
              </a:rPr>
              <a:t>"check if user is authenticated"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540410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40410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0DB57C"/>
                </a:solidFill>
              </a:rPr>
              <a:t>71%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24160" y="540410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59E0B"/>
                </a:solidFill>
              </a:rPr>
              <a:t>+33%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51576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8FAFC"/>
                </a:solidFill>
              </a:rPr>
              <a:t>"write product data to database"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575157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41%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575157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0DB57C"/>
                </a:solidFill>
              </a:rPr>
              <a:t>68%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57515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59E0B"/>
                </a:solidFill>
              </a:rPr>
              <a:t>+27%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99048"/>
            <a:ext cx="5577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8FAFC"/>
                </a:solidFill>
              </a:rPr>
              <a:t>"log error to file"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60990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52%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60990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0DB57C"/>
                </a:solidFill>
              </a:rPr>
              <a:t>74%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609904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59E0B"/>
                </a:solidFill>
              </a:rPr>
              <a:t>+22%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AI SEARCH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8FAFC"/>
                </a:solidFill>
              </a:rPr>
              <a:t>How a Query Becomes a Result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" y="2926080"/>
            <a:ext cx="1572768" cy="16002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2926080"/>
            <a:ext cx="1572768" cy="50292"/>
          </a:xfrm>
          <a:prstGeom prst="rect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3035808"/>
            <a:ext cx="1435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50">
                <a:solidFill>
                  <a:srgbClr val="387EF5"/>
                </a:solidFill>
              </a:rPr>
              <a:t>User
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3547872"/>
            <a:ext cx="1435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94A3B8"/>
                </a:solidFill>
              </a:rPr>
              <a:t>"fetch product
from DB"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93392" y="3726180.0"/>
            <a:ext cx="182880" cy="0.0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2066544" y="3660343.2"/>
            <a:ext cx="109728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2066544" y="3726180.0"/>
            <a:ext cx="109728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212848" y="2926080"/>
            <a:ext cx="1572768" cy="16002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12848" y="2926080"/>
            <a:ext cx="1572768" cy="502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04288" y="3035808"/>
            <a:ext cx="1435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50">
                <a:solidFill>
                  <a:srgbClr val="F59E0B"/>
                </a:solidFill>
              </a:rPr>
              <a:t>Voyage AI
Embed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3547872"/>
            <a:ext cx="1435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94A3B8"/>
                </a:solidFill>
              </a:rPr>
              <a:t>1,536-float
vector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822192" y="3726180.0"/>
            <a:ext cx="182880" cy="0.0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3895344" y="3660343.2"/>
            <a:ext cx="109728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3895344" y="3726180.0"/>
            <a:ext cx="109728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41648" y="2926080"/>
            <a:ext cx="1572768" cy="16002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041648" y="2926080"/>
            <a:ext cx="1572768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33088" y="3035808"/>
            <a:ext cx="1435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50">
                <a:solidFill>
                  <a:srgbClr val="8B5CF6"/>
                </a:solidFill>
              </a:rPr>
              <a:t>Pinecone
HNSW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8" y="3547872"/>
            <a:ext cx="1435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94A3B8"/>
                </a:solidFill>
              </a:rPr>
              <a:t>top-10
nearest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50992" y="3726180.0"/>
            <a:ext cx="182880" cy="0.0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 flipV="1">
            <a:off x="5724144" y="3660343.2"/>
            <a:ext cx="109728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5724144" y="3726180.0"/>
            <a:ext cx="109728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870448" y="2926080"/>
            <a:ext cx="1572768" cy="16002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870448" y="2926080"/>
            <a:ext cx="1572768" cy="50292"/>
          </a:xfrm>
          <a:prstGeom prst="rect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61888" y="3035808"/>
            <a:ext cx="1435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50">
                <a:solidFill>
                  <a:srgbClr val="0DB57C"/>
                </a:solidFill>
              </a:rPr>
              <a:t>Threshold
Filter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1888" y="3547872"/>
            <a:ext cx="1435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94A3B8"/>
                </a:solidFill>
              </a:rPr>
              <a:t>≥ 35%
score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479792" y="3726180.0"/>
            <a:ext cx="182880" cy="0.0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 flipV="1">
            <a:off x="7552944" y="3660343.2"/>
            <a:ext cx="109728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7552944" y="3726180.0"/>
            <a:ext cx="109728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699248" y="2926080"/>
            <a:ext cx="1572768" cy="16002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99248" y="2926080"/>
            <a:ext cx="1572768" cy="502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90688" y="3035808"/>
            <a:ext cx="1435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50">
                <a:solidFill>
                  <a:srgbClr val="F59E0B"/>
                </a:solidFill>
              </a:rPr>
              <a:t>GPT
Line Locator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90688" y="3547872"/>
            <a:ext cx="1435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94A3B8"/>
                </a:solidFill>
              </a:rPr>
              <a:t>exact line
per result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308592" y="3726180.0"/>
            <a:ext cx="182880" cy="0.0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9381744" y="3660343.2"/>
            <a:ext cx="109728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9381744" y="3726180.0"/>
            <a:ext cx="109728" cy="65836.79999999981"/>
          </a:xfrm>
          <a:prstGeom prst="line">
            <a:avLst/>
          </a:prstGeom>
          <a:ln w="25400">
            <a:solidFill>
              <a:srgbClr val="2D3F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9528048" y="2926080"/>
            <a:ext cx="1572768" cy="16002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28048" y="2926080"/>
            <a:ext cx="1572768" cy="50292"/>
          </a:xfrm>
          <a:prstGeom prst="rect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19488" y="3035808"/>
            <a:ext cx="143560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150">
                <a:solidFill>
                  <a:srgbClr val="0DB57C"/>
                </a:solidFill>
              </a:rPr>
              <a:t>Open
File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19488" y="3547872"/>
            <a:ext cx="14356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94A3B8"/>
                </a:solidFill>
              </a:rPr>
              <a:t>line 47
highlighted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4048" y="4892040"/>
            <a:ext cx="3474720" cy="14630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387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5010912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8FAFC"/>
                </a:solidFill>
              </a:rPr>
              <a:t>Both layers validate query length
(frontend + backend safety net)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51960" y="4892040"/>
            <a:ext cx="3474720" cy="14630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6552" y="5010912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8FAFC"/>
                </a:solidFill>
              </a:rPr>
              <a:t>HNSW approximate nearest-neighbour
sub-millisecond at any scale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119872" y="4892040"/>
            <a:ext cx="3474720" cy="14630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84464" y="5010912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8FAFC"/>
                </a:solidFill>
              </a:rPr>
              <a:t>All GPT line-locator calls fire
in parallel — total ≈ one GPT call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8FAFC"/>
                </a:solidFill>
              </a:rPr>
              <a:t>What a Vector Actually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" y="150876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642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94A3B8"/>
                </a:solidFill>
              </a:rPr>
              <a:t>ONE STORED FUNCTION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2996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8B5CF6"/>
                </a:solidFill>
              </a:rPr>
              <a:t>[0.21, −0.54, 0.87, 0.13, −0.92,
 0.45, 0.71, −0.33, 0.58,  0.19,
 ···
 −0.23, 0.67, 0.42, −0.88, 0.15]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310128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1000">
                <a:solidFill>
                  <a:srgbClr val="94A3B8"/>
                </a:solidFill>
              </a:rPr>
              <a:t>← 1,536 floats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8FAFC"/>
                </a:solidFill>
              </a:rPr>
              <a:t>Encodes ALL of: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96512"/>
            <a:ext cx="320040" cy="320040"/>
          </a:xfrm>
          <a:prstGeom prst="roundRect">
            <a:avLst>
              <a:gd name="adj" fmla="val 8000"/>
            </a:avLst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096512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8FAFC"/>
                </a:solidFill>
              </a:rPr>
              <a:t>Function name label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72000"/>
            <a:ext cx="320040" cy="32004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7200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8FAFC"/>
                </a:solidFill>
              </a:rPr>
              <a:t>GPT plain-English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047488"/>
            <a:ext cx="320040" cy="320040"/>
          </a:xfrm>
          <a:prstGeom prst="roundRect">
            <a:avLst>
              <a:gd name="adj" fmla="val 8000"/>
            </a:avLst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04748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F8FAFC"/>
                </a:solidFill>
              </a:rPr>
              <a:t>Raw code syntax &amp; structure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50992" y="1508760"/>
            <a:ext cx="6035040" cy="45720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70448" y="16642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94A3B8"/>
                </a:solidFill>
              </a:rPr>
              <a:t>COSINE SIMILARITY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800">
                <a:solidFill>
                  <a:srgbClr val="8B5CF6"/>
                </a:solidFill>
              </a:rPr>
              <a:t>sim(A, B) =  A · B
             |A| × |B|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0448" y="301752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94A3B8"/>
                </a:solidFill>
              </a:rPr>
              <a:t>Measures the angle between two vectors.
1.0 = identical direction (perfect match)
0.0 = perpendicular (completely unrelated)
Magnitude-independent — a 2-line function
and a 50-line function can score equally.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70448" y="484632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F59E0B"/>
                </a:solidFill>
              </a:rPr>
              <a:t>Why not Euclidean distance?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70448" y="5166360"/>
            <a:ext cx="53035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Vector magnitude reflects text length, not meaning.
Cosine ignores magnitude — only direction matters.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8FAFC"/>
                </a:solidFill>
              </a:rPr>
              <a:t>What It Actually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" y="1508760"/>
            <a:ext cx="2651760" cy="210312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5240">
            <a:solidFill>
              <a:srgbClr val="0DB5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664208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5200">
                <a:solidFill>
                  <a:srgbClr val="0DB57C"/>
                </a:solidFill>
              </a:rPr>
              <a:t>6/6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2633472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94A3B8"/>
                </a:solidFill>
              </a:rPr>
              <a:t>semantic queries
found  (0 by text search)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4408" y="1508760"/>
            <a:ext cx="2651760" cy="210312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5240">
            <a:solidFill>
              <a:srgbClr val="387E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4408" y="1664208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5200">
                <a:solidFill>
                  <a:srgbClr val="387EF5"/>
                </a:solidFill>
              </a:rPr>
              <a:t>0.92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633472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94A3B8"/>
                </a:solidFill>
              </a:rPr>
              <a:t>MRR — correct result
almost always #1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08760"/>
            <a:ext cx="2651760" cy="210312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664208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5200">
                <a:solidFill>
                  <a:srgbClr val="F59E0B"/>
                </a:solidFill>
              </a:rPr>
              <a:t>80%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4768" y="2633472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94A3B8"/>
                </a:solidFill>
              </a:rPr>
              <a:t>Precision@5 — 4 of 5
returns are relevant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25128" y="1508760"/>
            <a:ext cx="2651760" cy="210312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5128" y="1664208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5200">
                <a:solidFill>
                  <a:srgbClr val="8B5CF6"/>
                </a:solidFill>
              </a:rPr>
              <a:t>82%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5128" y="2633472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000">
                <a:solidFill>
                  <a:srgbClr val="94A3B8"/>
                </a:solidFill>
              </a:rPr>
              <a:t>best cosine score
(vs 46% without summary)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" y="3794760"/>
            <a:ext cx="11430000" cy="27432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1270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39136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00">
                <a:solidFill>
                  <a:srgbClr val="94A3B8"/>
                </a:solidFill>
              </a:rPr>
              <a:t>CONCEPTUAL QUERIES — NO KEYWORD OVERLAP WITH FUNCTION NAMES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2062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50">
                <a:solidFill>
                  <a:srgbClr val="94A3B8"/>
                </a:solidFill>
              </a:rPr>
              <a:t>Query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420624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50">
                <a:solidFill>
                  <a:srgbClr val="F43F5E"/>
                </a:solidFill>
              </a:rPr>
              <a:t>Traditional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20624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50">
                <a:solidFill>
                  <a:srgbClr val="0DB57C"/>
                </a:solidFill>
              </a:rPr>
              <a:t>Smart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0" y="4206240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950">
                <a:solidFill>
                  <a:srgbClr val="F59E0B"/>
                </a:solidFill>
              </a:rPr>
              <a:t>Score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90288"/>
            <a:ext cx="11247120" cy="18288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626864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8FAFC"/>
                </a:solidFill>
              </a:rPr>
              <a:t>"fetch product from database"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62686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43F5E"/>
                </a:solidFill>
              </a:rPr>
              <a:t>0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62686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0DB57C"/>
                </a:solidFill>
              </a:rPr>
              <a:t>getProductInfo()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0" y="4626864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59E0B"/>
                </a:solidFill>
              </a:rPr>
              <a:t>82%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47488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8FAFC"/>
                </a:solidFill>
              </a:rPr>
              <a:t>"check if user is authenticated"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5047488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43F5E"/>
                </a:solidFill>
              </a:rPr>
              <a:t>0 results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504748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0DB57C"/>
                </a:solidFill>
              </a:rPr>
              <a:t>assert_logged_in()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98480" y="504748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59E0B"/>
                </a:solidFill>
              </a:rPr>
              <a:t>74%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6811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8FAFC"/>
                </a:solidFill>
              </a:rPr>
              <a:t>"calculate total order price"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546811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43F5E"/>
                </a:solidFill>
              </a:rPr>
              <a:t>0 results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5468112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0DB57C"/>
                </a:solidFill>
              </a:rPr>
              <a:t>computeLineItemTotal()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98480" y="5468112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59E0B"/>
                </a:solidFill>
              </a:rPr>
              <a:t>68%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888736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8FAFC"/>
                </a:solidFill>
              </a:rPr>
              <a:t>"delete item from cart"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588873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F43F5E"/>
                </a:solidFill>
              </a:rPr>
              <a:t>0 results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888736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0DB57C"/>
                </a:solidFill>
              </a:rPr>
              <a:t>removeCartItem()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0" y="5888736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59E0B"/>
                </a:solidFill>
              </a:rPr>
              <a:t>73%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8FAFC"/>
                </a:solidFill>
              </a:rPr>
              <a:t>4 Key Technical Decisions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" y="1508760"/>
            <a:ext cx="5349240" cy="22860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508760"/>
            <a:ext cx="5349240" cy="50292"/>
          </a:xfrm>
          <a:prstGeom prst="rect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618488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387EF5"/>
                </a:solidFill>
              </a:rPr>
              <a:t>ThreadingHTTPServer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03120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Search + indexing run in parallel threads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606040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One-line change — Python stdlib, no dependencies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08960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Thread-safe: handlers share no mutable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508760"/>
            <a:ext cx="5349240" cy="22860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508760"/>
            <a:ext cx="5349240" cy="50292"/>
          </a:xfrm>
          <a:prstGeom prst="rect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618488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0DB57C"/>
                </a:solidFill>
              </a:rPr>
              <a:t>Two-Phase Batched Indexing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103120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Phase 1: scan all files (local, no network)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606040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Phase 2: send in batches of 50 to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108960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50× faster than sequential approach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4048" y="4005072"/>
            <a:ext cx="5349240" cy="22860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4005072"/>
            <a:ext cx="5349240" cy="502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4114800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59E0B"/>
                </a:solidFill>
              </a:rPr>
              <a:t>/config Endpoint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599432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backend/config.py is single source of truth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102352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MIN_AI_QUERY_LENGTH fetched by extension at startup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605272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Frontend + backend always enforce the same value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89320" y="4005072"/>
            <a:ext cx="5349240" cy="228600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89320" y="4005072"/>
            <a:ext cx="5349240" cy="5029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114800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8B5CF6"/>
                </a:solidFill>
              </a:rPr>
              <a:t>Relative Path Chunk IDs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4599432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ID format: src/auth.py::verify_token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5102352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Portable — works after folder moves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5605272"/>
            <a:ext cx="5074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→  Consistent across developer machines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600">
                <a:solidFill>
                  <a:srgbClr val="F8FAFC"/>
                </a:solidFill>
              </a:rPr>
              <a:t>Problems Faced &amp; How They Were Solved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" y="1508760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1208" y="1636776"/>
            <a:ext cx="320040" cy="320040"/>
          </a:xfrm>
          <a:prstGeom prst="roundRect">
            <a:avLst>
              <a:gd name="adj" fmla="val 8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" y="163677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8FAFC"/>
                </a:solidFill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636776"/>
            <a:ext cx="2862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8FAFC"/>
                </a:solidFill>
              </a:rPr>
              <a:t>Null IDs crashing Pinecone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1208" y="2057400"/>
            <a:ext cx="3246120" cy="18288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148840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Filter at both TS + Python layers:
id is string and id.length &gt; 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96512" y="1508760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33672" y="1636776"/>
            <a:ext cx="320040" cy="320040"/>
          </a:xfrm>
          <a:prstGeom prst="roundRect">
            <a:avLst>
              <a:gd name="adj" fmla="val 8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33672" y="163677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8FAFC"/>
                </a:solidFill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1636776"/>
            <a:ext cx="2862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8FAFC"/>
                </a:solidFill>
              </a:rPr>
              <a:t>30+ min first-run indexing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33672" y="2057400"/>
            <a:ext cx="3246120" cy="18288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2148840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Two-phase batching: 200 s → 4 s
for 100 functions (50× speedup)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18120" y="1508760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80" y="1636776"/>
            <a:ext cx="320040" cy="320040"/>
          </a:xfrm>
          <a:prstGeom prst="roundRect">
            <a:avLst>
              <a:gd name="adj" fmla="val 8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0" y="163677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8FAFC"/>
                </a:solidFill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1636776"/>
            <a:ext cx="2862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8FAFC"/>
                </a:solidFill>
              </a:rPr>
              <a:t>Class chunks polluting results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80" y="2057400"/>
            <a:ext cx="3246120" cy="18288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82712" y="2148840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Filter c.type !== 'class' before
embedding — methods indexed, not wrappers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4048" y="3639312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208" y="3767328"/>
            <a:ext cx="320040" cy="320040"/>
          </a:xfrm>
          <a:prstGeom prst="roundRect">
            <a:avLst>
              <a:gd name="adj" fmla="val 8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" y="37673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8FAFC"/>
                </a:solidFill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3767328"/>
            <a:ext cx="2862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8FAFC"/>
                </a:solidFill>
              </a:rPr>
              <a:t>Progress lost on crash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1208" y="4187952"/>
            <a:ext cx="3246120" cy="18288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279392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Save index.json after every batch
→ resume from last checkpoint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096512" y="3639312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33672" y="3767328"/>
            <a:ext cx="320040" cy="320040"/>
          </a:xfrm>
          <a:prstGeom prst="roundRect">
            <a:avLst>
              <a:gd name="adj" fmla="val 8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33672" y="37673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8FAFC"/>
                </a:solidFill>
              </a:rPr>
              <a:t>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5152" y="3767328"/>
            <a:ext cx="2862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8FAFC"/>
                </a:solidFill>
              </a:rPr>
              <a:t>Search blocked by indexing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33672" y="4187952"/>
            <a:ext cx="3246120" cy="18288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61104" y="4279392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ThreadingHTTPServer: one thread per
request, search + index run in parallel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18120" y="3639312"/>
            <a:ext cx="3520440" cy="1920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889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955280" y="3767328"/>
            <a:ext cx="320040" cy="320040"/>
          </a:xfrm>
          <a:prstGeom prst="roundRect">
            <a:avLst>
              <a:gd name="adj" fmla="val 8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0" y="376732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300">
                <a:solidFill>
                  <a:srgbClr val="F8FAFC"/>
                </a:solidFill>
              </a:rPr>
              <a:t>!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3767328"/>
            <a:ext cx="28620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50">
                <a:solidFill>
                  <a:srgbClr val="F8FAFC"/>
                </a:solidFill>
              </a:rPr>
              <a:t>Config drift across layers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55280" y="4187952"/>
            <a:ext cx="3246120" cy="18288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82712" y="4279392"/>
            <a:ext cx="3246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/config endpoint: single number in
config.py, all layers read from it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" y="137160"/>
            <a:ext cx="1828800" cy="34747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84048" y="137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900">
                <a:solidFill>
                  <a:srgbClr val="F8FAFC"/>
                </a:solidFill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943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8FAFC"/>
                </a:solidFill>
              </a:rPr>
              <a:t>What Comes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35024"/>
            <a:ext cx="11155680" cy="16459"/>
          </a:xfrm>
          <a:prstGeom prst="rect">
            <a:avLst/>
          </a:prstGeom>
          <a:solidFill>
            <a:srgbClr val="3D5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8640" y="1563624"/>
            <a:ext cx="585216" cy="585216"/>
          </a:xfrm>
          <a:prstGeom prst="ellipse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63624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F8FAFC"/>
                </a:solidFill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98448" y="1508760"/>
            <a:ext cx="10424160" cy="777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635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98448" y="1508760"/>
            <a:ext cx="50292" cy="777240"/>
          </a:xfrm>
          <a:prstGeom prst="rect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08760" y="155448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387EF5"/>
                </a:solidFill>
              </a:rPr>
              <a:t>Remote Backend Hosting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1581912"/>
            <a:ext cx="6949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Eliminate local Python setup. One config change (backendUrl) points extension at cloud.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2496312"/>
            <a:ext cx="585216" cy="585216"/>
          </a:xfrm>
          <a:prstGeom prst="ellipse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96312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F8FAFC"/>
                </a:solidFill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98448" y="2441448"/>
            <a:ext cx="10424160" cy="777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635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98448" y="2441448"/>
            <a:ext cx="50292" cy="777240"/>
          </a:xfrm>
          <a:prstGeom prst="rect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248716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0DB57C"/>
                </a:solidFill>
              </a:rPr>
              <a:t>Git Branch-Aware Indexing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514600"/>
            <a:ext cx="6949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Detect branch switches via VS Code Git API, compare changed files between branches.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3429000"/>
            <a:ext cx="585216" cy="585216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429000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F8FAFC"/>
                </a:solidFill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98448" y="3374136"/>
            <a:ext cx="10424160" cy="777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635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298448" y="3374136"/>
            <a:ext cx="50292" cy="7772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3419856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8B5CF6"/>
                </a:solidFill>
              </a:rPr>
              <a:t>Cross-Function Semantic Linking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447288"/>
            <a:ext cx="6949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Build call graph at index time. Boost scores of connected functions for flow queries.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361688"/>
            <a:ext cx="585216" cy="58521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361688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F8FAFC"/>
                </a:solidFill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98448" y="4306824"/>
            <a:ext cx="10424160" cy="777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635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98448" y="4306824"/>
            <a:ext cx="50292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08760" y="435254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59E0B"/>
                </a:solidFill>
              </a:rPr>
              <a:t>Local Embedding Models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4379976"/>
            <a:ext cx="6949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nomic-embed-code or CodeBERT via Ollama — offline/air-gapped use, only embedder.py changes.</a:t>
            </a:r>
          </a:p>
        </p:txBody>
      </p:sp>
      <p:sp>
        <p:nvSpPr>
          <p:cNvPr id="31" name="Oval 30"/>
          <p:cNvSpPr/>
          <p:nvPr/>
        </p:nvSpPr>
        <p:spPr>
          <a:xfrm>
            <a:off x="548640" y="5294376"/>
            <a:ext cx="585216" cy="585216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294376"/>
            <a:ext cx="585216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sz="1400">
                <a:solidFill>
                  <a:srgbClr val="F8FAFC"/>
                </a:solidFill>
              </a:rPr>
              <a:t>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98448" y="5239512"/>
            <a:ext cx="10424160" cy="777240"/>
          </a:xfrm>
          <a:prstGeom prst="roundRect">
            <a:avLst>
              <a:gd name="adj" fmla="val 8000"/>
            </a:avLst>
          </a:prstGeom>
          <a:solidFill>
            <a:srgbClr val="19243A"/>
          </a:solidFill>
          <a:ln w="6350">
            <a:solidFill>
              <a:srgbClr val="2D3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298448" y="5239512"/>
            <a:ext cx="50292" cy="77724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08760" y="528523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F43F5E"/>
                </a:solidFill>
              </a:rPr>
              <a:t>Feedback-Based Ranking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5312664"/>
            <a:ext cx="69494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50">
                <a:solidFill>
                  <a:srgbClr val="94A3B8"/>
                </a:solidFill>
              </a:rPr>
              <a:t>Track clicks and skips locally. Adjust threshold and weights per developer over time.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3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192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54864"/>
          </a:xfrm>
          <a:prstGeom prst="rect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69296" y="356616"/>
            <a:ext cx="292608" cy="292608"/>
          </a:xfrm>
          <a:prstGeom prst="ellipse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44784" y="356616"/>
            <a:ext cx="292608" cy="292608"/>
          </a:xfrm>
          <a:prstGeom prst="ellipse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20272" y="356616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795760" y="356616"/>
            <a:ext cx="292608" cy="29260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300">
                <a:solidFill>
                  <a:srgbClr val="94A3B8"/>
                </a:solidFill>
              </a:rPr>
              <a:t>What Was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0058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6200">
                <a:solidFill>
                  <a:srgbClr val="F8FAFC"/>
                </a:solidFill>
              </a:rPr>
              <a:t>Smart Search</a:t>
            </a:r>
          </a:p>
        </p:txBody>
      </p:sp>
      <p:sp>
        <p:nvSpPr>
          <p:cNvPr id="10" name="Oval 9"/>
          <p:cNvSpPr/>
          <p:nvPr/>
        </p:nvSpPr>
        <p:spPr>
          <a:xfrm>
            <a:off x="557784" y="2340864"/>
            <a:ext cx="256032" cy="256032"/>
          </a:xfrm>
          <a:prstGeom prst="ellipse">
            <a:avLst/>
          </a:prstGeom>
          <a:solidFill>
            <a:srgbClr val="387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28600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8FAFC"/>
                </a:solidFill>
              </a:rPr>
              <a:t>Semantic code search inside VS Code — finds functions by what they do</a:t>
            </a:r>
          </a:p>
        </p:txBody>
      </p:sp>
      <p:sp>
        <p:nvSpPr>
          <p:cNvPr id="12" name="Oval 11"/>
          <p:cNvSpPr/>
          <p:nvPr/>
        </p:nvSpPr>
        <p:spPr>
          <a:xfrm>
            <a:off x="557784" y="2825496"/>
            <a:ext cx="256032" cy="256032"/>
          </a:xfrm>
          <a:prstGeom prst="ellipse">
            <a:avLst/>
          </a:prstGeom>
          <a:solidFill>
            <a:srgbClr val="0DB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770632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8FAFC"/>
                </a:solidFill>
              </a:rPr>
              <a:t>Two-phase batching made first-run indexing 50× faster</a:t>
            </a:r>
          </a:p>
        </p:txBody>
      </p:sp>
      <p:sp>
        <p:nvSpPr>
          <p:cNvPr id="14" name="Oval 13"/>
          <p:cNvSpPr/>
          <p:nvPr/>
        </p:nvSpPr>
        <p:spPr>
          <a:xfrm>
            <a:off x="557784" y="3310128"/>
            <a:ext cx="256032" cy="25603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55264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8FAFC"/>
                </a:solidFill>
              </a:rPr>
              <a:t>GPT summaries improved cosine scores from ~46% to ~82%</a:t>
            </a:r>
          </a:p>
        </p:txBody>
      </p:sp>
      <p:sp>
        <p:nvSpPr>
          <p:cNvPr id="16" name="Oval 15"/>
          <p:cNvSpPr/>
          <p:nvPr/>
        </p:nvSpPr>
        <p:spPr>
          <a:xfrm>
            <a:off x="557784" y="3794760"/>
            <a:ext cx="256032" cy="256032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39896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8FAFC"/>
                </a:solidFill>
              </a:rPr>
              <a:t>MRR 0.92 — correct result is first in 5 of 6 conceptual queries</a:t>
            </a:r>
          </a:p>
        </p:txBody>
      </p:sp>
      <p:sp>
        <p:nvSpPr>
          <p:cNvPr id="18" name="Oval 17"/>
          <p:cNvSpPr/>
          <p:nvPr/>
        </p:nvSpPr>
        <p:spPr>
          <a:xfrm>
            <a:off x="557784" y="4279392"/>
            <a:ext cx="256032" cy="256032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24528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8FAFC"/>
                </a:solidFill>
              </a:rPr>
              <a:t>Crash-safe, concurrent, configuration-consistent production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32180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94A3B8"/>
                </a:solidFill>
              </a:rPr>
              <a:t>Nawfal Jalloul  ·  Master's Research Project  ·  May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521208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1" i="0" sz="2800">
                <a:solidFill>
                  <a:srgbClr val="387EF5"/>
                </a:solidFill>
              </a:rPr>
              <a:t>Thank you</a:t>
            </a:r>
          </a:p>
        </p:txBody>
      </p:sp>
    </p:spTree>
  </p:cSld>
  <p:clrMapOvr>
    <a:masterClrMapping/>
  </p:clrMapOvr>
  <p:transition xmlns:p14="http://schemas.microsoft.com/office/powerpoint/2010/main" spd="med" advTm="0">
    <p14:transition inverted="0">
      <p14:morph option="byObject"/>
    </p14:transition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