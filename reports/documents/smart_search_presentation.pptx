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71" r:id="rId14"/>
    <p:sldId id="272" r:id="rId15"/>
    <p:sldId id="273" r:id="rId16"/>
    <p:sldId id="267" r:id="rId17"/>
    <p:sldId id="268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/>
    <p:restoredTop sz="94757"/>
  </p:normalViewPr>
  <p:slideViewPr>
    <p:cSldViewPr snapToGrid="0" snapToObjects="1">
      <p:cViewPr varScale="1">
        <p:scale>
          <a:sx n="87" d="100"/>
          <a:sy n="87" d="100"/>
        </p:scale>
        <p:origin x="1136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603" y="1122363"/>
            <a:ext cx="9141619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603" y="3602038"/>
            <a:ext cx="9141619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599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493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633" y="1709738"/>
            <a:ext cx="10512862" cy="2852737"/>
          </a:xfrm>
        </p:spPr>
        <p:txBody>
          <a:bodyPr anchor="b"/>
          <a:lstStyle>
            <a:lvl1pPr>
              <a:defRPr sz="59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633" y="4589464"/>
            <a:ext cx="10512862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370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798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59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175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69" y="365126"/>
            <a:ext cx="105128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570" y="1681163"/>
            <a:ext cx="5156444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570" y="2505075"/>
            <a:ext cx="515644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0593" y="1681163"/>
            <a:ext cx="518183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593" y="2505075"/>
            <a:ext cx="518183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107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460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879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303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1838" y="987426"/>
            <a:ext cx="6170593" cy="4873625"/>
          </a:xfrm>
        </p:spPr>
        <p:txBody>
          <a:bodyPr anchor="t"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484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2628" y="365125"/>
            <a:ext cx="262821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7982" y="365125"/>
            <a:ext cx="773228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982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2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3174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686800" y="-457200"/>
            <a:ext cx="4572000" cy="4572000"/>
          </a:xfrm>
          <a:prstGeom prst="rect">
            <a:avLst/>
          </a:prstGeom>
          <a:solidFill>
            <a:srgbClr val="1A3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875520" y="365760"/>
            <a:ext cx="3200400" cy="3200400"/>
          </a:xfrm>
          <a:prstGeom prst="rect">
            <a:avLst/>
          </a:prstGeom>
          <a:solidFill>
            <a:srgbClr val="22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84048" y="6419088"/>
            <a:ext cx="237744" cy="237744"/>
          </a:xfrm>
          <a:prstGeom prst="ellipse">
            <a:avLst/>
          </a:prstGeom>
          <a:solidFill>
            <a:srgbClr val="387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59536" y="6419088"/>
            <a:ext cx="237744" cy="237744"/>
          </a:xfrm>
          <a:prstGeom prst="ellipse">
            <a:avLst/>
          </a:prstGeom>
          <a:solidFill>
            <a:srgbClr val="0DB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335024" y="641908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7EF5"/>
                </a:solidFill>
              </a:rPr>
              <a:t>MASTER'S RESEARCH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8FAFC"/>
                </a:solidFill>
              </a:rPr>
              <a:t>Smart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290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94A3B8"/>
                </a:solidFill>
              </a:rPr>
              <a:t>Semantic Code Search Engine for VS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0233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3D506A"/>
                </a:solidFill>
              </a:rPr>
              <a:t>Find code by what it does — not what it's called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029200"/>
            <a:ext cx="1645920" cy="36576"/>
          </a:xfrm>
          <a:prstGeom prst="rect">
            <a:avLst/>
          </a:prstGeom>
          <a:solidFill>
            <a:srgbClr val="387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516636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8FAFC"/>
                </a:solidFill>
              </a:rPr>
              <a:t>Nawfal Jalloul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94A3B8"/>
                </a:solidFill>
              </a:rPr>
              <a:t>May 2026</a:t>
            </a:r>
          </a:p>
        </p:txBody>
      </p:sp>
    </p:spTree>
  </p:cSld>
  <p:clrMapOvr>
    <a:masterClrMapping/>
  </p:clrMapOvr>
  <p:transition spd="med" advTm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4048" y="137160"/>
            <a:ext cx="1828800" cy="347472"/>
          </a:xfrm>
          <a:prstGeom prst="roundRect">
            <a:avLst>
              <a:gd name="adj" fmla="val 8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371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8FAFC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</a:rPr>
              <a:t>Traditional Search is Broken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1155680" cy="16459"/>
          </a:xfrm>
          <a:prstGeom prst="rect">
            <a:avLst/>
          </a:prstGeom>
          <a:solidFill>
            <a:srgbClr val="3D5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11480" y="1508760"/>
            <a:ext cx="5303520" cy="4480560"/>
          </a:xfrm>
          <a:prstGeom prst="roundRect">
            <a:avLst>
              <a:gd name="adj" fmla="val 8000"/>
            </a:avLst>
          </a:prstGeom>
          <a:solidFill>
            <a:srgbClr val="19243A"/>
          </a:solidFill>
          <a:ln w="12700">
            <a:solidFill>
              <a:srgbClr val="2D3F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You search for...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29968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</a:rPr>
              <a:t>"fetch product
from database"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4612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 i="0">
                <a:solidFill>
                  <a:srgbClr val="F43F5E"/>
                </a:solidFill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617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43F5E"/>
                </a:solidFill>
              </a:rPr>
              <a:t>RESULTS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508760"/>
            <a:ext cx="5669280" cy="4480560"/>
          </a:xfrm>
          <a:prstGeom prst="roundRect">
            <a:avLst>
              <a:gd name="adj" fmla="val 8000"/>
            </a:avLst>
          </a:prstGeom>
          <a:solidFill>
            <a:srgbClr val="19243A"/>
          </a:solidFill>
          <a:ln w="12700">
            <a:solidFill>
              <a:srgbClr val="2D3F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166420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The function exists — it's just named differently: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212848"/>
            <a:ext cx="5212080" cy="548640"/>
          </a:xfrm>
          <a:prstGeom prst="roundRect">
            <a:avLst>
              <a:gd name="adj" fmla="val 8000"/>
            </a:avLst>
          </a:prstGeom>
          <a:solidFill>
            <a:srgbClr val="2D3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2249424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7EF5"/>
                </a:solidFill>
              </a:rPr>
              <a:t>getProductInfo()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962656"/>
            <a:ext cx="5212080" cy="548640"/>
          </a:xfrm>
          <a:prstGeom prst="roundRect">
            <a:avLst>
              <a:gd name="adj" fmla="val 8000"/>
            </a:avLst>
          </a:prstGeom>
          <a:solidFill>
            <a:srgbClr val="2D3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299923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B57C"/>
                </a:solidFill>
              </a:rPr>
              <a:t>retrieveItem()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712463"/>
            <a:ext cx="5212080" cy="548640"/>
          </a:xfrm>
          <a:prstGeom prst="roundRect">
            <a:avLst>
              <a:gd name="adj" fmla="val 8000"/>
            </a:avLst>
          </a:prstGeom>
          <a:solidFill>
            <a:srgbClr val="2D3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3749039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fetchFromDatabase()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462272"/>
            <a:ext cx="5212080" cy="548640"/>
          </a:xfrm>
          <a:prstGeom prst="roundRect">
            <a:avLst>
              <a:gd name="adj" fmla="val 8000"/>
            </a:avLst>
          </a:prstGeom>
          <a:solidFill>
            <a:srgbClr val="2D3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449884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5CF6"/>
                </a:solidFill>
              </a:rPr>
              <a:t>loadProductById()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14476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3D506A"/>
                </a:solidFill>
              </a:rPr>
              <a:t>Traditional search: 0 matches.   Smart Search: finds them all.</a:t>
            </a:r>
          </a:p>
        </p:txBody>
      </p:sp>
    </p:spTree>
  </p:cSld>
  <p:clrMapOvr>
    <a:masterClrMapping/>
  </p:clrMapOvr>
  <p:transition spd="med" advTm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387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4048" y="137160"/>
            <a:ext cx="1828800" cy="347472"/>
          </a:xfrm>
          <a:prstGeom prst="roundRect">
            <a:avLst>
              <a:gd name="adj" fmla="val 8000"/>
            </a:avLst>
          </a:prstGeom>
          <a:solidFill>
            <a:srgbClr val="387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371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8FAFC"/>
                </a:solidFill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</a:rPr>
              <a:t>Search by Meaning, Not Words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1155680" cy="16459"/>
          </a:xfrm>
          <a:prstGeom prst="rect">
            <a:avLst/>
          </a:prstGeom>
          <a:solidFill>
            <a:srgbClr val="3D5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057400"/>
            <a:ext cx="2468880" cy="2468880"/>
          </a:xfrm>
          <a:prstGeom prst="ellipse">
            <a:avLst/>
          </a:prstGeom>
          <a:solidFill>
            <a:srgbClr val="387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385" y="2959196"/>
            <a:ext cx="2468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 dirty="0">
                <a:solidFill>
                  <a:srgbClr val="F8FAFC"/>
                </a:solidFill>
              </a:rPr>
              <a:t>"fetch product
from database"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09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Natural Language
Query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19272" y="3291840"/>
            <a:ext cx="1453896" cy="0"/>
          </a:xfrm>
          <a:prstGeom prst="line">
            <a:avLst/>
          </a:prstGeom>
          <a:ln w="31750">
            <a:solidFill>
              <a:srgbClr val="2D3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4663440" y="0"/>
            <a:ext cx="109728" cy="0"/>
          </a:xfrm>
          <a:prstGeom prst="line">
            <a:avLst/>
          </a:prstGeom>
          <a:ln w="31750">
            <a:solidFill>
              <a:srgbClr val="2D3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4663440" y="3291840"/>
            <a:ext cx="109728" cy="0"/>
          </a:xfrm>
          <a:prstGeom prst="line">
            <a:avLst/>
          </a:prstGeom>
          <a:ln w="31750">
            <a:solidFill>
              <a:srgbClr val="2D3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259836" y="274320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F59E0B"/>
                </a:solidFill>
              </a:rPr>
              <a:t>embed via
Voyage AI</a:t>
            </a:r>
          </a:p>
        </p:txBody>
      </p:sp>
      <p:sp>
        <p:nvSpPr>
          <p:cNvPr id="14" name="Oval 13"/>
          <p:cNvSpPr/>
          <p:nvPr/>
        </p:nvSpPr>
        <p:spPr>
          <a:xfrm>
            <a:off x="4846320" y="2057400"/>
            <a:ext cx="2468880" cy="24688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18304" y="3099816"/>
            <a:ext cx="2468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 dirty="0">
                <a:solidFill>
                  <a:srgbClr val="F8FAFC"/>
                </a:solidFill>
              </a:rPr>
              <a:t>1,536-float
vector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4709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Semantic
Vector Space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88352" y="3291840"/>
            <a:ext cx="1453896" cy="0"/>
          </a:xfrm>
          <a:prstGeom prst="line">
            <a:avLst/>
          </a:prstGeom>
          <a:ln w="31750">
            <a:solidFill>
              <a:srgbClr val="2D3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8732520" y="0"/>
            <a:ext cx="109728" cy="0"/>
          </a:xfrm>
          <a:prstGeom prst="line">
            <a:avLst/>
          </a:prstGeom>
          <a:ln w="31750">
            <a:solidFill>
              <a:srgbClr val="2D3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8732520" y="3291840"/>
            <a:ext cx="109728" cy="0"/>
          </a:xfrm>
          <a:prstGeom prst="line">
            <a:avLst/>
          </a:prstGeom>
          <a:ln w="31750">
            <a:solidFill>
              <a:srgbClr val="2D3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28916" y="274320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F59E0B"/>
                </a:solidFill>
              </a:rPr>
              <a:t>cosine
similarity
(HNSW)</a:t>
            </a:r>
          </a:p>
        </p:txBody>
      </p:sp>
      <p:sp>
        <p:nvSpPr>
          <p:cNvPr id="21" name="Oval 20"/>
          <p:cNvSpPr/>
          <p:nvPr/>
        </p:nvSpPr>
        <p:spPr>
          <a:xfrm>
            <a:off x="8915400" y="2057400"/>
            <a:ext cx="2468880" cy="2468880"/>
          </a:xfrm>
          <a:prstGeom prst="ellipse">
            <a:avLst/>
          </a:prstGeom>
          <a:solidFill>
            <a:srgbClr val="0DB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15400" y="3135651"/>
            <a:ext cx="2468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 dirty="0" err="1">
                <a:solidFill>
                  <a:srgbClr val="F8FAFC"/>
                </a:solidFill>
              </a:rPr>
              <a:t>getProductInfo</a:t>
            </a:r>
            <a:r>
              <a:rPr sz="1050" b="1" i="0" dirty="0">
                <a:solidFill>
                  <a:srgbClr val="F8FAFC"/>
                </a:solidFill>
              </a:rPr>
              <a:t>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4709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Code
Function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86000" y="5577840"/>
            <a:ext cx="7589520" cy="777240"/>
          </a:xfrm>
          <a:prstGeom prst="roundRect">
            <a:avLst>
              <a:gd name="adj" fmla="val 8000"/>
            </a:avLst>
          </a:prstGeom>
          <a:solidFill>
            <a:srgbClr val="19243A"/>
          </a:solidFill>
          <a:ln w="12700">
            <a:solidFill>
              <a:srgbClr val="387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468880" y="5687568"/>
            <a:ext cx="7223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</a:rPr>
              <a:t>82% similarity match — even with zero shared words between query and function name</a:t>
            </a:r>
          </a:p>
        </p:txBody>
      </p:sp>
    </p:spTree>
  </p:cSld>
  <p:clrMapOvr>
    <a:masterClrMapping/>
  </p:clrMapOvr>
  <p:transition spd="med" advTm="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4048" y="137160"/>
            <a:ext cx="1828800" cy="347472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371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8FAFC"/>
                </a:solidFill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</a:rPr>
              <a:t>Three-Layer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35024"/>
            <a:ext cx="11155680" cy="16459"/>
          </a:xfrm>
          <a:prstGeom prst="rect">
            <a:avLst/>
          </a:prstGeom>
          <a:solidFill>
            <a:srgbClr val="3D5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84048" y="1463040"/>
            <a:ext cx="3794760" cy="5029200"/>
          </a:xfrm>
          <a:prstGeom prst="roundRect">
            <a:avLst>
              <a:gd name="adj" fmla="val 8000"/>
            </a:avLst>
          </a:prstGeom>
          <a:solidFill>
            <a:srgbClr val="19243A"/>
          </a:solidFill>
          <a:ln w="8890">
            <a:solidFill>
              <a:srgbClr val="2D3F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4048" y="1463040"/>
            <a:ext cx="3794760" cy="54864"/>
          </a:xfrm>
          <a:prstGeom prst="rect">
            <a:avLst/>
          </a:prstGeom>
          <a:solidFill>
            <a:srgbClr val="387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7EF5"/>
                </a:solidFill>
              </a:rPr>
              <a:t>VS Code Extension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TypeScript / Node.js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240280"/>
            <a:ext cx="3611880" cy="16459"/>
          </a:xfrm>
          <a:prstGeom prst="rect">
            <a:avLst/>
          </a:prstGeom>
          <a:solidFill>
            <a:srgbClr val="3D5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2350008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</a:rPr>
              <a:t>• File watcher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852928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• Code chunker (12 langs)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3355848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• Hash store — index.json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3858768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• Two-phase batch indexer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" y="4361688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• Search UI webview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4864608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• Status bar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1463040"/>
            <a:ext cx="3794760" cy="5029200"/>
          </a:xfrm>
          <a:prstGeom prst="roundRect">
            <a:avLst>
              <a:gd name="adj" fmla="val 8000"/>
            </a:avLst>
          </a:prstGeom>
          <a:solidFill>
            <a:srgbClr val="19243A"/>
          </a:solidFill>
          <a:ln w="8890">
            <a:solidFill>
              <a:srgbClr val="2D3F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15968" y="1463040"/>
            <a:ext cx="3794760" cy="54864"/>
          </a:xfrm>
          <a:prstGeom prst="rect">
            <a:avLst/>
          </a:prstGeom>
          <a:solidFill>
            <a:srgbClr val="0DB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80560" y="1572768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B57C"/>
                </a:solidFill>
              </a:rPr>
              <a:t>Python 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196596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localhost:8000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07408" y="2240280"/>
            <a:ext cx="3611880" cy="16459"/>
          </a:xfrm>
          <a:prstGeom prst="rect">
            <a:avLst/>
          </a:prstGeom>
          <a:solidFill>
            <a:srgbClr val="3D5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17136" y="2350008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</a:rPr>
              <a:t>• ThreadingHTTPServer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7136" y="2852928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• GPT summarizer (parallel)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7136" y="3355848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• Voyage AI embedder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17136" y="3858768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• Pinecone client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17136" y="4361688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• Normal search (regex)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7136" y="4864608"/>
            <a:ext cx="350215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94A3B8"/>
                </a:solidFill>
              </a:rPr>
              <a:t>• /config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47888" y="1463040"/>
            <a:ext cx="3749039" cy="5029200"/>
          </a:xfrm>
          <a:prstGeom prst="roundRect">
            <a:avLst>
              <a:gd name="adj" fmla="val 8000"/>
            </a:avLst>
          </a:prstGeom>
          <a:solidFill>
            <a:srgbClr val="19243A"/>
          </a:solidFill>
          <a:ln w="8890">
            <a:solidFill>
              <a:srgbClr val="2D3F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47888" y="1463040"/>
            <a:ext cx="3749039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80" y="1572768"/>
            <a:ext cx="35204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Cloud Services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196596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External APIs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39328" y="2240280"/>
            <a:ext cx="3566159" cy="16459"/>
          </a:xfrm>
          <a:prstGeom prst="rect">
            <a:avLst/>
          </a:prstGeom>
          <a:solidFill>
            <a:srgbClr val="3D5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49056" y="2350008"/>
            <a:ext cx="34564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</a:rPr>
              <a:t>• OpenAI  GPT-4o-mini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49056" y="2852928"/>
            <a:ext cx="34564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• Voyage AI  voyage-code-2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49056" y="3355848"/>
            <a:ext cx="34564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• Pinecone  (HNSW)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9911" y="3858768"/>
            <a:ext cx="34564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94A3B8"/>
                </a:solidFill>
              </a:rPr>
              <a:t>• namespace: {</a:t>
            </a:r>
            <a:r>
              <a:rPr sz="1050" b="0" i="0" dirty="0" err="1">
                <a:solidFill>
                  <a:srgbClr val="94A3B8"/>
                </a:solidFill>
              </a:rPr>
              <a:t>projectId</a:t>
            </a:r>
            <a:r>
              <a:rPr sz="1050" b="0" i="0" dirty="0">
                <a:solidFill>
                  <a:srgbClr val="94A3B8"/>
                </a:solidFill>
              </a:rPr>
              <a:t>}::{</a:t>
            </a:r>
            <a:r>
              <a:rPr sz="1050" b="0" i="0" dirty="0" err="1">
                <a:solidFill>
                  <a:srgbClr val="94A3B8"/>
                </a:solidFill>
              </a:rPr>
              <a:t>userId</a:t>
            </a:r>
            <a:r>
              <a:rPr sz="1050" b="0" i="0" dirty="0">
                <a:solidFill>
                  <a:srgbClr val="94A3B8"/>
                </a:solidFill>
              </a:rPr>
              <a:t>}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178808" y="3977639"/>
            <a:ext cx="137160" cy="0"/>
          </a:xfrm>
          <a:prstGeom prst="line">
            <a:avLst/>
          </a:prstGeom>
          <a:ln w="19050">
            <a:solidFill>
              <a:srgbClr val="2D3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4206240" y="0"/>
            <a:ext cx="109728" cy="0"/>
          </a:xfrm>
          <a:prstGeom prst="line">
            <a:avLst/>
          </a:prstGeom>
          <a:ln w="19050">
            <a:solidFill>
              <a:srgbClr val="2D3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4206240" y="3977639"/>
            <a:ext cx="109728" cy="0"/>
          </a:xfrm>
          <a:prstGeom prst="line">
            <a:avLst/>
          </a:prstGeom>
          <a:ln w="19050">
            <a:solidFill>
              <a:srgbClr val="2D3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133088" y="3703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D506A"/>
                </a:solidFill>
              </a:rPr>
              <a:t>HTTP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110727" y="3977639"/>
            <a:ext cx="137160" cy="0"/>
          </a:xfrm>
          <a:prstGeom prst="line">
            <a:avLst/>
          </a:prstGeom>
          <a:ln w="19050">
            <a:solidFill>
              <a:srgbClr val="2D3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 flipV="1">
            <a:off x="8138159" y="0"/>
            <a:ext cx="109728" cy="0"/>
          </a:xfrm>
          <a:prstGeom prst="line">
            <a:avLst/>
          </a:prstGeom>
          <a:ln w="19050">
            <a:solidFill>
              <a:srgbClr val="2D3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8138159" y="3977639"/>
            <a:ext cx="109728" cy="0"/>
          </a:xfrm>
          <a:prstGeom prst="line">
            <a:avLst/>
          </a:prstGeom>
          <a:ln w="19050">
            <a:solidFill>
              <a:srgbClr val="2D3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065007" y="3703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D506A"/>
                </a:solidFill>
              </a:rPr>
              <a:t>API</a:t>
            </a:r>
          </a:p>
        </p:txBody>
      </p:sp>
    </p:spTree>
  </p:cSld>
  <p:clrMapOvr>
    <a:masterClrMapping/>
  </p:clrMapOvr>
  <p:transition spd="med" advTm="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DB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4048" y="137160"/>
            <a:ext cx="1828800" cy="347472"/>
          </a:xfrm>
          <a:prstGeom prst="roundRect">
            <a:avLst>
              <a:gd name="adj" fmla="val 8000"/>
            </a:avLst>
          </a:prstGeom>
          <a:solidFill>
            <a:srgbClr val="0DB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371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8FAFC"/>
                </a:solidFill>
              </a:rPr>
              <a:t>INDEXING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</a:rPr>
              <a:t>From File Save → Pinecone Vector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35024"/>
            <a:ext cx="11155680" cy="16459"/>
          </a:xfrm>
          <a:prstGeom prst="rect">
            <a:avLst/>
          </a:prstGeom>
          <a:solidFill>
            <a:srgbClr val="3D5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44652" y="3090672"/>
            <a:ext cx="1133856" cy="1133856"/>
          </a:xfrm>
          <a:prstGeom prst="ellipse">
            <a:avLst/>
          </a:prstGeom>
          <a:solidFill>
            <a:srgbClr val="0DB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" y="3090672"/>
            <a:ext cx="1133856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8FAFC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315968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8FAFC"/>
                </a:solidFill>
              </a:rPr>
              <a:t>File
Saved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500176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onDidSave
event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0" y="3657600"/>
            <a:ext cx="0" cy="0"/>
          </a:xfrm>
          <a:prstGeom prst="line">
            <a:avLst/>
          </a:prstGeom>
          <a:ln w="25400">
            <a:solidFill>
              <a:srgbClr val="2D3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0" y="0"/>
            <a:ext cx="0" cy="0"/>
          </a:xfrm>
          <a:prstGeom prst="line">
            <a:avLst/>
          </a:prstGeom>
          <a:ln w="25400">
            <a:solidFill>
              <a:srgbClr val="2D3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0" y="3657600"/>
            <a:ext cx="0" cy="0"/>
          </a:xfrm>
          <a:prstGeom prst="line">
            <a:avLst/>
          </a:prstGeom>
          <a:ln w="25400">
            <a:solidFill>
              <a:srgbClr val="2D3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537460" y="3090672"/>
            <a:ext cx="1133856" cy="1133856"/>
          </a:xfrm>
          <a:prstGeom prst="ellipse">
            <a:avLst/>
          </a:prstGeom>
          <a:solidFill>
            <a:srgbClr val="387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37460" y="3090672"/>
            <a:ext cx="1133856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8FAFC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8568" y="4315968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8FAFC"/>
                </a:solidFill>
              </a:rPr>
              <a:t>Hash
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04288" y="500176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MD5 file
+ function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0" y="3657600"/>
            <a:ext cx="0" cy="0"/>
          </a:xfrm>
          <a:prstGeom prst="line">
            <a:avLst/>
          </a:prstGeom>
          <a:ln w="25400">
            <a:solidFill>
              <a:srgbClr val="2D3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0" y="0"/>
            <a:ext cx="0" cy="0"/>
          </a:xfrm>
          <a:prstGeom prst="line">
            <a:avLst/>
          </a:prstGeom>
          <a:ln w="25400">
            <a:solidFill>
              <a:srgbClr val="2D3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0" y="3657600"/>
            <a:ext cx="0" cy="0"/>
          </a:xfrm>
          <a:prstGeom prst="line">
            <a:avLst/>
          </a:prstGeom>
          <a:ln w="25400">
            <a:solidFill>
              <a:srgbClr val="2D3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4430268" y="3090672"/>
            <a:ext cx="1133856" cy="1133856"/>
          </a:xfrm>
          <a:prstGeom prst="ellipse">
            <a:avLst/>
          </a:prstGeom>
          <a:solidFill>
            <a:srgbClr val="387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30268" y="3090672"/>
            <a:ext cx="1133856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8FAFC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4315968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8FAFC"/>
                </a:solidFill>
              </a:rPr>
              <a:t>Chunk
Functions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97096" y="500176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brace/indent
12 langs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0" y="3657600"/>
            <a:ext cx="0" cy="0"/>
          </a:xfrm>
          <a:prstGeom prst="line">
            <a:avLst/>
          </a:prstGeom>
          <a:ln w="25400">
            <a:solidFill>
              <a:srgbClr val="2D3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0" y="0"/>
            <a:ext cx="0" cy="0"/>
          </a:xfrm>
          <a:prstGeom prst="line">
            <a:avLst/>
          </a:prstGeom>
          <a:ln w="25400">
            <a:solidFill>
              <a:srgbClr val="2D3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0" y="3657600"/>
            <a:ext cx="0" cy="0"/>
          </a:xfrm>
          <a:prstGeom prst="line">
            <a:avLst/>
          </a:prstGeom>
          <a:ln w="25400">
            <a:solidFill>
              <a:srgbClr val="2D3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6323076" y="3090672"/>
            <a:ext cx="1133856" cy="113385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23076" y="3090672"/>
            <a:ext cx="1133856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8FAFC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44184" y="4315968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8FAFC"/>
                </a:solidFill>
              </a:rPr>
              <a:t>GPT
Summary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9904" y="500176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parallel
50 at once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0" y="3657600"/>
            <a:ext cx="0" cy="0"/>
          </a:xfrm>
          <a:prstGeom prst="line">
            <a:avLst/>
          </a:prstGeom>
          <a:ln w="25400">
            <a:solidFill>
              <a:srgbClr val="2D3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0" y="0"/>
            <a:ext cx="0" cy="0"/>
          </a:xfrm>
          <a:prstGeom prst="line">
            <a:avLst/>
          </a:prstGeom>
          <a:ln w="25400">
            <a:solidFill>
              <a:srgbClr val="2D3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0" y="3657600"/>
            <a:ext cx="0" cy="0"/>
          </a:xfrm>
          <a:prstGeom prst="line">
            <a:avLst/>
          </a:prstGeom>
          <a:ln w="25400">
            <a:solidFill>
              <a:srgbClr val="2D3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8215884" y="3090672"/>
            <a:ext cx="1133856" cy="113385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15884" y="3090672"/>
            <a:ext cx="1133856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8FAFC"/>
                </a:solidFill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36992" y="4315968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8FAFC"/>
                </a:solidFill>
              </a:rPr>
              <a:t>Embed
1,536 floats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82712" y="500176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voyage-
code-2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0" y="3657600"/>
            <a:ext cx="0" cy="0"/>
          </a:xfrm>
          <a:prstGeom prst="line">
            <a:avLst/>
          </a:prstGeom>
          <a:ln w="25400">
            <a:solidFill>
              <a:srgbClr val="2D3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0" y="0"/>
            <a:ext cx="0" cy="0"/>
          </a:xfrm>
          <a:prstGeom prst="line">
            <a:avLst/>
          </a:prstGeom>
          <a:ln w="25400">
            <a:solidFill>
              <a:srgbClr val="2D3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0" y="3657600"/>
            <a:ext cx="0" cy="0"/>
          </a:xfrm>
          <a:prstGeom prst="line">
            <a:avLst/>
          </a:prstGeom>
          <a:ln w="25400">
            <a:solidFill>
              <a:srgbClr val="2D3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10108692" y="3090672"/>
            <a:ext cx="1133856" cy="113385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108692" y="3090672"/>
            <a:ext cx="1133856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8FAFC"/>
                </a:solidFill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29800" y="4315968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8FAFC"/>
                </a:solidFill>
              </a:rPr>
              <a:t>Pinecone
Upsert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0" y="500176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namespace
isolation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1480" y="5806440"/>
            <a:ext cx="11247120" cy="658368"/>
          </a:xfrm>
          <a:prstGeom prst="roundRect">
            <a:avLst>
              <a:gd name="adj" fmla="val 8000"/>
            </a:avLst>
          </a:prstGeom>
          <a:solidFill>
            <a:srgbClr val="19243A"/>
          </a:solidFill>
          <a:ln w="10160">
            <a:solidFill>
              <a:srgbClr val="0DB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4360" y="591616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</a:rPr>
              <a:t>🔒  Crash-safe: index.json saved after every batch — if interrupted, next run resumes from last checkpoint</a:t>
            </a:r>
          </a:p>
        </p:txBody>
      </p:sp>
    </p:spTree>
  </p:cSld>
  <p:clrMapOvr>
    <a:masterClrMapping/>
  </p:clrMapOvr>
  <p:transition spd="med" advTm="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4048" y="137160"/>
            <a:ext cx="1828800" cy="347472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371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8FAFC"/>
                </a:solidFill>
              </a:rPr>
              <a:t>KEY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</a:rPr>
              <a:t>GPT Summaries Bridge the Vocabulary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35024"/>
            <a:ext cx="11155680" cy="16459"/>
          </a:xfrm>
          <a:prstGeom prst="rect">
            <a:avLst/>
          </a:prstGeom>
          <a:solidFill>
            <a:srgbClr val="3D5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84048" y="1508760"/>
            <a:ext cx="4114800" cy="2560320"/>
          </a:xfrm>
          <a:prstGeom prst="roundRect">
            <a:avLst>
              <a:gd name="adj" fmla="val 8000"/>
            </a:avLst>
          </a:prstGeom>
          <a:solidFill>
            <a:srgbClr val="19243A"/>
          </a:solidFill>
          <a:ln w="12700">
            <a:solidFill>
              <a:srgbClr val="2D3F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6276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7EF5"/>
                </a:solidFill>
              </a:rPr>
              <a:t>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38862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B57C"/>
                </a:solidFill>
              </a:rPr>
              <a:t>public function getProductInfo($id) {
  $sql = "SELECT * FROM products
          WHERE id = ?";
  $result = $db-&gt;query($sql, [$id]);
  error_log("Fetching: " . $id);
  return $result-&gt;fetch_assoc();
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19456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59E0B"/>
                </a:solidFill>
              </a:rPr>
              <a:t>GPT-4o-mini
summarizes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26280" y="2697480"/>
            <a:ext cx="146304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5879592" y="0"/>
            <a:ext cx="109728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5879592" y="2697480"/>
            <a:ext cx="109728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44768" y="1508760"/>
            <a:ext cx="5486400" cy="2560320"/>
          </a:xfrm>
          <a:prstGeom prst="roundRect">
            <a:avLst>
              <a:gd name="adj" fmla="val 8000"/>
            </a:avLst>
          </a:prstGeom>
          <a:solidFill>
            <a:srgbClr val="19243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6276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GPT PLAIN-ENGLISH 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956816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8FAFC"/>
                </a:solidFill>
              </a:rPr>
              <a:t>"Fetches a single product's full details from the
database by its numeric ID. Executes a parameterized
SQL SELECT query on the products table.
Includes error logging of the requested product ID."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4297680"/>
            <a:ext cx="11430000" cy="2240280"/>
          </a:xfrm>
          <a:prstGeom prst="roundRect">
            <a:avLst>
              <a:gd name="adj" fmla="val 8000"/>
            </a:avLst>
          </a:prstGeom>
          <a:solidFill>
            <a:srgbClr val="19243A"/>
          </a:solidFill>
          <a:ln w="12700">
            <a:solidFill>
              <a:srgbClr val="2D3F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44074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EMBEDDING SCORE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709160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Query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70916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Without Summary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70916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With Summary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4709160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Gain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029200"/>
            <a:ext cx="11247120" cy="18288"/>
          </a:xfrm>
          <a:prstGeom prst="rect">
            <a:avLst/>
          </a:prstGeom>
          <a:solidFill>
            <a:srgbClr val="3D5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5056632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</a:rPr>
              <a:t>"fetch product from database by id"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5056632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46%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5056632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B57C"/>
                </a:solidFill>
              </a:rPr>
              <a:t>82%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505663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9E0B"/>
                </a:solidFill>
              </a:rPr>
              <a:t>+36%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404104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</a:rPr>
              <a:t>"check if user is authenticated"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5404104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38%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5404104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B57C"/>
                </a:solidFill>
              </a:rPr>
              <a:t>71%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5404104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9E0B"/>
                </a:solidFill>
              </a:rPr>
              <a:t>+33%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751576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</a:rPr>
              <a:t>"write product data to database"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751576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41%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5751576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B57C"/>
                </a:solidFill>
              </a:rPr>
              <a:t>68%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5751576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9E0B"/>
                </a:solidFill>
              </a:rPr>
              <a:t>+27%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099048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</a:rPr>
              <a:t>"log error to file"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609904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52%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609904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B57C"/>
                </a:solidFill>
              </a:rPr>
              <a:t>74%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609904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9E0B"/>
                </a:solidFill>
              </a:rPr>
              <a:t>+22%</a:t>
            </a:r>
          </a:p>
        </p:txBody>
      </p:sp>
    </p:spTree>
  </p:cSld>
  <p:clrMapOvr>
    <a:masterClrMapping/>
  </p:clrMapOvr>
  <p:transition spd="med" advTm="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4048" y="137160"/>
            <a:ext cx="1828800" cy="347472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371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8FAFC"/>
                </a:solidFill>
              </a:rPr>
              <a:t>AI SEARCH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</a:rPr>
              <a:t>How a Query Becomes a Result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35024"/>
            <a:ext cx="11155680" cy="16459"/>
          </a:xfrm>
          <a:prstGeom prst="rect">
            <a:avLst/>
          </a:prstGeom>
          <a:solidFill>
            <a:srgbClr val="3D5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84048" y="2926080"/>
            <a:ext cx="1572768" cy="1600200"/>
          </a:xfrm>
          <a:prstGeom prst="roundRect">
            <a:avLst>
              <a:gd name="adj" fmla="val 8000"/>
            </a:avLst>
          </a:prstGeom>
          <a:solidFill>
            <a:srgbClr val="19243A"/>
          </a:solidFill>
          <a:ln w="12700">
            <a:solidFill>
              <a:srgbClr val="2D3F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4048" y="2926080"/>
            <a:ext cx="1572768" cy="50292"/>
          </a:xfrm>
          <a:prstGeom prst="rect">
            <a:avLst/>
          </a:prstGeom>
          <a:solidFill>
            <a:srgbClr val="387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3035808"/>
            <a:ext cx="1435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387EF5"/>
                </a:solidFill>
              </a:rPr>
              <a:t>User
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3547872"/>
            <a:ext cx="1435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"fetch product
from DB"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93392" y="0"/>
            <a:ext cx="182880" cy="0"/>
          </a:xfrm>
          <a:prstGeom prst="line">
            <a:avLst/>
          </a:prstGeom>
          <a:ln w="25400">
            <a:solidFill>
              <a:srgbClr val="2D3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2066544" y="0"/>
            <a:ext cx="109728" cy="0"/>
          </a:xfrm>
          <a:prstGeom prst="line">
            <a:avLst/>
          </a:prstGeom>
          <a:ln w="25400">
            <a:solidFill>
              <a:srgbClr val="2D3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066544" y="0"/>
            <a:ext cx="109728" cy="0"/>
          </a:xfrm>
          <a:prstGeom prst="line">
            <a:avLst/>
          </a:prstGeom>
          <a:ln w="25400">
            <a:solidFill>
              <a:srgbClr val="2D3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212848" y="2926080"/>
            <a:ext cx="1572768" cy="1600200"/>
          </a:xfrm>
          <a:prstGeom prst="roundRect">
            <a:avLst>
              <a:gd name="adj" fmla="val 8000"/>
            </a:avLst>
          </a:prstGeom>
          <a:solidFill>
            <a:srgbClr val="19243A"/>
          </a:solidFill>
          <a:ln w="12700">
            <a:solidFill>
              <a:srgbClr val="2D3F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212848" y="2926080"/>
            <a:ext cx="1572768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04288" y="3035808"/>
            <a:ext cx="1435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59E0B"/>
                </a:solidFill>
              </a:rPr>
              <a:t>Voyage AI
Embed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04288" y="3547872"/>
            <a:ext cx="1435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1,536-float
vector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822192" y="0"/>
            <a:ext cx="182880" cy="0"/>
          </a:xfrm>
          <a:prstGeom prst="line">
            <a:avLst/>
          </a:prstGeom>
          <a:ln w="25400">
            <a:solidFill>
              <a:srgbClr val="2D3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3895344" y="0"/>
            <a:ext cx="109728" cy="0"/>
          </a:xfrm>
          <a:prstGeom prst="line">
            <a:avLst/>
          </a:prstGeom>
          <a:ln w="25400">
            <a:solidFill>
              <a:srgbClr val="2D3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3895344" y="0"/>
            <a:ext cx="109728" cy="0"/>
          </a:xfrm>
          <a:prstGeom prst="line">
            <a:avLst/>
          </a:prstGeom>
          <a:ln w="25400">
            <a:solidFill>
              <a:srgbClr val="2D3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041648" y="2926080"/>
            <a:ext cx="1572768" cy="1600200"/>
          </a:xfrm>
          <a:prstGeom prst="roundRect">
            <a:avLst>
              <a:gd name="adj" fmla="val 8000"/>
            </a:avLst>
          </a:prstGeom>
          <a:solidFill>
            <a:srgbClr val="19243A"/>
          </a:solidFill>
          <a:ln w="12700">
            <a:solidFill>
              <a:srgbClr val="2D3F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041648" y="2926080"/>
            <a:ext cx="1572768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33088" y="3035808"/>
            <a:ext cx="1435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8B5CF6"/>
                </a:solidFill>
              </a:rPr>
              <a:t>Pinecone
HNSW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33088" y="3547872"/>
            <a:ext cx="1435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top-10
nearest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50992" y="0"/>
            <a:ext cx="182880" cy="0"/>
          </a:xfrm>
          <a:prstGeom prst="line">
            <a:avLst/>
          </a:prstGeom>
          <a:ln w="25400">
            <a:solidFill>
              <a:srgbClr val="2D3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5724144" y="0"/>
            <a:ext cx="109728" cy="0"/>
          </a:xfrm>
          <a:prstGeom prst="line">
            <a:avLst/>
          </a:prstGeom>
          <a:ln w="25400">
            <a:solidFill>
              <a:srgbClr val="2D3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5724144" y="0"/>
            <a:ext cx="109728" cy="0"/>
          </a:xfrm>
          <a:prstGeom prst="line">
            <a:avLst/>
          </a:prstGeom>
          <a:ln w="25400">
            <a:solidFill>
              <a:srgbClr val="2D3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870448" y="2926080"/>
            <a:ext cx="1572768" cy="1600200"/>
          </a:xfrm>
          <a:prstGeom prst="roundRect">
            <a:avLst>
              <a:gd name="adj" fmla="val 8000"/>
            </a:avLst>
          </a:prstGeom>
          <a:solidFill>
            <a:srgbClr val="19243A"/>
          </a:solidFill>
          <a:ln w="12700">
            <a:solidFill>
              <a:srgbClr val="2D3F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870448" y="2926080"/>
            <a:ext cx="1572768" cy="50292"/>
          </a:xfrm>
          <a:prstGeom prst="rect">
            <a:avLst/>
          </a:prstGeom>
          <a:solidFill>
            <a:srgbClr val="0DB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61888" y="3035808"/>
            <a:ext cx="1435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DB57C"/>
                </a:solidFill>
              </a:rPr>
              <a:t>Threshold
Filter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61888" y="3547872"/>
            <a:ext cx="1435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≥ 35%
score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479792" y="0"/>
            <a:ext cx="182880" cy="0"/>
          </a:xfrm>
          <a:prstGeom prst="line">
            <a:avLst/>
          </a:prstGeom>
          <a:ln w="25400">
            <a:solidFill>
              <a:srgbClr val="2D3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7552944" y="0"/>
            <a:ext cx="109728" cy="0"/>
          </a:xfrm>
          <a:prstGeom prst="line">
            <a:avLst/>
          </a:prstGeom>
          <a:ln w="25400">
            <a:solidFill>
              <a:srgbClr val="2D3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7552944" y="0"/>
            <a:ext cx="109728" cy="0"/>
          </a:xfrm>
          <a:prstGeom prst="line">
            <a:avLst/>
          </a:prstGeom>
          <a:ln w="25400">
            <a:solidFill>
              <a:srgbClr val="2D3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699248" y="2926080"/>
            <a:ext cx="1572768" cy="1600200"/>
          </a:xfrm>
          <a:prstGeom prst="roundRect">
            <a:avLst>
              <a:gd name="adj" fmla="val 8000"/>
            </a:avLst>
          </a:prstGeom>
          <a:solidFill>
            <a:srgbClr val="19243A"/>
          </a:solidFill>
          <a:ln w="12700">
            <a:solidFill>
              <a:srgbClr val="2D3F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699248" y="2926080"/>
            <a:ext cx="1572768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90688" y="3035808"/>
            <a:ext cx="1435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59E0B"/>
                </a:solidFill>
              </a:rPr>
              <a:t>GPT
Line Locator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90688" y="3547872"/>
            <a:ext cx="1435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exact line
per result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308592" y="0"/>
            <a:ext cx="182880" cy="0"/>
          </a:xfrm>
          <a:prstGeom prst="line">
            <a:avLst/>
          </a:prstGeom>
          <a:ln w="25400">
            <a:solidFill>
              <a:srgbClr val="2D3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9381744" y="0"/>
            <a:ext cx="109728" cy="0"/>
          </a:xfrm>
          <a:prstGeom prst="line">
            <a:avLst/>
          </a:prstGeom>
          <a:ln w="25400">
            <a:solidFill>
              <a:srgbClr val="2D3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9381744" y="0"/>
            <a:ext cx="109728" cy="0"/>
          </a:xfrm>
          <a:prstGeom prst="line">
            <a:avLst/>
          </a:prstGeom>
          <a:ln w="25400">
            <a:solidFill>
              <a:srgbClr val="2D3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528048" y="2926080"/>
            <a:ext cx="1572768" cy="1600200"/>
          </a:xfrm>
          <a:prstGeom prst="roundRect">
            <a:avLst>
              <a:gd name="adj" fmla="val 8000"/>
            </a:avLst>
          </a:prstGeom>
          <a:solidFill>
            <a:srgbClr val="19243A"/>
          </a:solidFill>
          <a:ln w="12700">
            <a:solidFill>
              <a:srgbClr val="2D3F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528048" y="2926080"/>
            <a:ext cx="1572768" cy="50292"/>
          </a:xfrm>
          <a:prstGeom prst="rect">
            <a:avLst/>
          </a:prstGeom>
          <a:solidFill>
            <a:srgbClr val="0DB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619488" y="3035808"/>
            <a:ext cx="1435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DB57C"/>
                </a:solidFill>
              </a:rPr>
              <a:t>Open
File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19488" y="3547872"/>
            <a:ext cx="1435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line 47
highlighted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4048" y="4892040"/>
            <a:ext cx="3474720" cy="1463040"/>
          </a:xfrm>
          <a:prstGeom prst="roundRect">
            <a:avLst>
              <a:gd name="adj" fmla="val 8000"/>
            </a:avLst>
          </a:prstGeom>
          <a:solidFill>
            <a:srgbClr val="19243A"/>
          </a:solidFill>
          <a:ln w="8890">
            <a:solidFill>
              <a:srgbClr val="387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48640" y="5010912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</a:rPr>
              <a:t>Both layers validate query length
(frontend + backend safety net)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251960" y="4892040"/>
            <a:ext cx="3474720" cy="1463040"/>
          </a:xfrm>
          <a:prstGeom prst="roundRect">
            <a:avLst>
              <a:gd name="adj" fmla="val 8000"/>
            </a:avLst>
          </a:prstGeom>
          <a:solidFill>
            <a:srgbClr val="19243A"/>
          </a:solidFill>
          <a:ln w="889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416552" y="5010912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</a:rPr>
              <a:t>HNSW approximate nearest-neighbour
sub-millisecond at any scale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19872" y="4892040"/>
            <a:ext cx="3474720" cy="1463040"/>
          </a:xfrm>
          <a:prstGeom prst="roundRect">
            <a:avLst>
              <a:gd name="adj" fmla="val 8000"/>
            </a:avLst>
          </a:prstGeom>
          <a:solidFill>
            <a:srgbClr val="19243A"/>
          </a:solidFill>
          <a:ln w="889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284464" y="5010912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</a:rPr>
              <a:t>All GPT line-locator calls fire
in parallel — total ≈ one GPT call</a:t>
            </a:r>
          </a:p>
        </p:txBody>
      </p:sp>
    </p:spTree>
  </p:cSld>
  <p:clrMapOvr>
    <a:masterClrMapping/>
  </p:clrMapOvr>
  <p:transition spd="med" advTm="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4048" y="137160"/>
            <a:ext cx="1828800" cy="347472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371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8FAFC"/>
                </a:solidFill>
              </a:rPr>
              <a:t>UNDER THE 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</a:rPr>
              <a:t>What a Vector Actually 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35024"/>
            <a:ext cx="11155680" cy="16459"/>
          </a:xfrm>
          <a:prstGeom prst="rect">
            <a:avLst/>
          </a:prstGeom>
          <a:solidFill>
            <a:srgbClr val="3D5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84048" y="1508760"/>
            <a:ext cx="5029200" cy="4572000"/>
          </a:xfrm>
          <a:prstGeom prst="roundRect">
            <a:avLst>
              <a:gd name="adj" fmla="val 8000"/>
            </a:avLst>
          </a:prstGeom>
          <a:solidFill>
            <a:srgbClr val="19243A"/>
          </a:solidFill>
          <a:ln w="12700">
            <a:solidFill>
              <a:srgbClr val="2D3F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6642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ONE STORED FUNCTION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029968"/>
            <a:ext cx="4572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5CF6"/>
                </a:solidFill>
              </a:rPr>
              <a:t>[0.21, −0.54, 0.87, 0.13, −0.92,
 0.45, 0.71, −0.33, 0.58,  0.19,
 ···
 −0.23, 0.67, 0.42, −0.88, 0.15]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31012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← 1,536 floats total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0332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</a:rPr>
              <a:t>Encodes ALL of: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96512"/>
            <a:ext cx="320040" cy="320040"/>
          </a:xfrm>
          <a:prstGeom prst="roundRect">
            <a:avLst>
              <a:gd name="adj" fmla="val 8000"/>
            </a:avLst>
          </a:prstGeom>
          <a:solidFill>
            <a:srgbClr val="387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409651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</a:rPr>
              <a:t>Function name label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7200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57200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</a:rPr>
              <a:t>GPT plain-English summary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047488"/>
            <a:ext cx="320040" cy="320040"/>
          </a:xfrm>
          <a:prstGeom prst="roundRect">
            <a:avLst>
              <a:gd name="adj" fmla="val 8000"/>
            </a:avLst>
          </a:prstGeom>
          <a:solidFill>
            <a:srgbClr val="0DB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504748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</a:rPr>
              <a:t>Raw code syntax &amp; structure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50992" y="1508760"/>
            <a:ext cx="6035040" cy="4572000"/>
          </a:xfrm>
          <a:prstGeom prst="roundRect">
            <a:avLst>
              <a:gd name="adj" fmla="val 8000"/>
            </a:avLst>
          </a:prstGeom>
          <a:solidFill>
            <a:srgbClr val="19243A"/>
          </a:solidFill>
          <a:ln w="12700">
            <a:solidFill>
              <a:srgbClr val="2D3F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70448" y="16642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COSINE SIMILARITY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70448" y="20116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B5CF6"/>
                </a:solidFill>
              </a:rPr>
              <a:t>sim(A, B) =  A · B
             |A| × |B|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0448" y="301752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Measures the angle between two vectors.
1.0 = identical direction (perfect match)
0.0 = perpendicular (completely unrelated)
Magnitude-independent — a 2-line function
and a 50-line function can score equally.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70448" y="48463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Why not Euclidean distance?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5166360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Vector magnitude reflects text length, not meaning.
Cosine ignores magnitude — only direction matters.</a:t>
            </a:r>
          </a:p>
        </p:txBody>
      </p:sp>
    </p:spTree>
  </p:cSld>
  <p:clrMapOvr>
    <a:masterClrMapping/>
  </p:clrMapOvr>
  <p:transition spd="med" advTm="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DB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4048" y="137160"/>
            <a:ext cx="1828800" cy="347472"/>
          </a:xfrm>
          <a:prstGeom prst="roundRect">
            <a:avLst>
              <a:gd name="adj" fmla="val 8000"/>
            </a:avLst>
          </a:prstGeom>
          <a:solidFill>
            <a:srgbClr val="0DB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371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8FAFC"/>
                </a:solidFill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</a:rPr>
              <a:t>What It Actually Does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35024"/>
            <a:ext cx="11155680" cy="16459"/>
          </a:xfrm>
          <a:prstGeom prst="rect">
            <a:avLst/>
          </a:prstGeom>
          <a:solidFill>
            <a:srgbClr val="3D5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84048" y="1508760"/>
            <a:ext cx="2651760" cy="2103120"/>
          </a:xfrm>
          <a:prstGeom prst="roundRect">
            <a:avLst>
              <a:gd name="adj" fmla="val 8000"/>
            </a:avLst>
          </a:prstGeom>
          <a:solidFill>
            <a:srgbClr val="19243A"/>
          </a:solidFill>
          <a:ln w="15240">
            <a:solidFill>
              <a:srgbClr val="0DB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664208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DB57C"/>
                </a:solidFill>
              </a:rPr>
              <a:t>6/6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633472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semantic queries
found  (0 by text search)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64408" y="1508760"/>
            <a:ext cx="2651760" cy="2103120"/>
          </a:xfrm>
          <a:prstGeom prst="roundRect">
            <a:avLst>
              <a:gd name="adj" fmla="val 8000"/>
            </a:avLst>
          </a:prstGeom>
          <a:solidFill>
            <a:srgbClr val="19243A"/>
          </a:solidFill>
          <a:ln w="15240">
            <a:solidFill>
              <a:srgbClr val="387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64408" y="1664208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387EF5"/>
                </a:solidFill>
              </a:rPr>
              <a:t>0.92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4408" y="2633472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MRR — correct result
almost always #1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508760"/>
            <a:ext cx="2651760" cy="2103120"/>
          </a:xfrm>
          <a:prstGeom prst="roundRect">
            <a:avLst>
              <a:gd name="adj" fmla="val 8000"/>
            </a:avLst>
          </a:prstGeom>
          <a:solidFill>
            <a:srgbClr val="19243A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44768" y="1664208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59E0B"/>
                </a:solidFill>
              </a:rPr>
              <a:t>80%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2633472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Precision@5 — 4 of 5
returns are relevant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25128" y="1508760"/>
            <a:ext cx="2651760" cy="2103120"/>
          </a:xfrm>
          <a:prstGeom prst="roundRect">
            <a:avLst>
              <a:gd name="adj" fmla="val 8000"/>
            </a:avLst>
          </a:prstGeom>
          <a:solidFill>
            <a:srgbClr val="19243A"/>
          </a:solidFill>
          <a:ln w="1524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25128" y="1664208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8B5CF6"/>
                </a:solidFill>
              </a:rPr>
              <a:t>82%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25128" y="2633472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best cosine score
(vs 46% without summary)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3794760"/>
            <a:ext cx="11430000" cy="2743200"/>
          </a:xfrm>
          <a:prstGeom prst="roundRect">
            <a:avLst>
              <a:gd name="adj" fmla="val 8000"/>
            </a:avLst>
          </a:prstGeom>
          <a:solidFill>
            <a:srgbClr val="19243A"/>
          </a:solidFill>
          <a:ln w="12700">
            <a:solidFill>
              <a:srgbClr val="2D3F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3913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CONCEPTUAL QUERIES — NO KEYWORD OVERLAP WITH FUNCTION NAMES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0624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4A3B8"/>
                </a:solidFill>
              </a:rPr>
              <a:t>Query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420624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43F5E"/>
                </a:solidFill>
              </a:rPr>
              <a:t>Traditional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20624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B57C"/>
                </a:solidFill>
              </a:rPr>
              <a:t>Smart 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420624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9E0B"/>
                </a:solidFill>
              </a:rPr>
              <a:t>Score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590288"/>
            <a:ext cx="11247120" cy="18288"/>
          </a:xfrm>
          <a:prstGeom prst="rect">
            <a:avLst/>
          </a:prstGeom>
          <a:solidFill>
            <a:srgbClr val="3D5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4626864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8FAFC"/>
                </a:solidFill>
              </a:rPr>
              <a:t>"fetch product from database"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2686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43F5E"/>
                </a:solidFill>
              </a:rPr>
              <a:t>0 results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626864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B57C"/>
                </a:solidFill>
              </a:rPr>
              <a:t>getProductInfo()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462686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9E0B"/>
                </a:solidFill>
              </a:rPr>
              <a:t>82%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04748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8FAFC"/>
                </a:solidFill>
              </a:rPr>
              <a:t>"check if user is authenticated"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504748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43F5E"/>
                </a:solidFill>
              </a:rPr>
              <a:t>0 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504748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B57C"/>
                </a:solidFill>
              </a:rPr>
              <a:t>assert_logged_in()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504748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9E0B"/>
                </a:solidFill>
              </a:rPr>
              <a:t>74%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46811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8FAFC"/>
                </a:solidFill>
              </a:rPr>
              <a:t>"calculate total order price"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546811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43F5E"/>
                </a:solidFill>
              </a:rPr>
              <a:t>0 results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5468112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B57C"/>
                </a:solidFill>
              </a:rPr>
              <a:t>computeLineItemTotal()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546811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9E0B"/>
                </a:solidFill>
              </a:rPr>
              <a:t>68%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888736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8FAFC"/>
                </a:solidFill>
              </a:rPr>
              <a:t>"delete item from cart"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588873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43F5E"/>
                </a:solidFill>
              </a:rPr>
              <a:t>0 results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5888736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B57C"/>
                </a:solidFill>
              </a:rPr>
              <a:t>removeCartItem()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98480" y="588873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9E0B"/>
                </a:solidFill>
              </a:rPr>
              <a:t>73%</a:t>
            </a:r>
          </a:p>
        </p:txBody>
      </p:sp>
    </p:spTree>
  </p:cSld>
  <p:clrMapOvr>
    <a:masterClrMapping/>
  </p:clrMapOvr>
  <p:transition spd="med" advTm="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387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4048" y="137160"/>
            <a:ext cx="1828800" cy="347472"/>
          </a:xfrm>
          <a:prstGeom prst="roundRect">
            <a:avLst>
              <a:gd name="adj" fmla="val 8000"/>
            </a:avLst>
          </a:prstGeom>
          <a:solidFill>
            <a:srgbClr val="387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371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8FAFC"/>
                </a:solidFill>
              </a:rPr>
              <a:t>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</a:rPr>
              <a:t>4 Key Technical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35024"/>
            <a:ext cx="11155680" cy="16459"/>
          </a:xfrm>
          <a:prstGeom prst="rect">
            <a:avLst/>
          </a:prstGeom>
          <a:solidFill>
            <a:srgbClr val="3D5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84048" y="1508760"/>
            <a:ext cx="5349240" cy="2286000"/>
          </a:xfrm>
          <a:prstGeom prst="roundRect">
            <a:avLst>
              <a:gd name="adj" fmla="val 8000"/>
            </a:avLst>
          </a:prstGeom>
          <a:solidFill>
            <a:srgbClr val="19243A"/>
          </a:solidFill>
          <a:ln w="8890">
            <a:solidFill>
              <a:srgbClr val="2D3F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4048" y="1508760"/>
            <a:ext cx="5349240" cy="50292"/>
          </a:xfrm>
          <a:prstGeom prst="rect">
            <a:avLst/>
          </a:prstGeom>
          <a:solidFill>
            <a:srgbClr val="387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618488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7EF5"/>
                </a:solidFill>
              </a:rPr>
              <a:t>ThreadingHTTPServer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103120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→  Search + indexing run in parallel threads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606040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→  One-line change — Python stdlib, no dependencies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108960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→  Thread-safe: handlers share no mutable state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508760"/>
            <a:ext cx="5349240" cy="2286000"/>
          </a:xfrm>
          <a:prstGeom prst="roundRect">
            <a:avLst>
              <a:gd name="adj" fmla="val 8000"/>
            </a:avLst>
          </a:prstGeom>
          <a:solidFill>
            <a:srgbClr val="19243A"/>
          </a:solidFill>
          <a:ln w="8890">
            <a:solidFill>
              <a:srgbClr val="2D3F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89320" y="1508760"/>
            <a:ext cx="5349240" cy="50292"/>
          </a:xfrm>
          <a:prstGeom prst="rect">
            <a:avLst/>
          </a:prstGeom>
          <a:solidFill>
            <a:srgbClr val="0DB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72200" y="1618488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B57C"/>
                </a:solidFill>
              </a:rPr>
              <a:t>Two-Phase Batched Indexing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103120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→  Phase 1: scan all files (local, no network)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606040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→  Phase 2: send in batches of 50 to 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3108960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94A3B8"/>
                </a:solidFill>
              </a:rPr>
              <a:t>→  50× faster than sequential approach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4005072"/>
            <a:ext cx="5349240" cy="2286000"/>
          </a:xfrm>
          <a:prstGeom prst="roundRect">
            <a:avLst>
              <a:gd name="adj" fmla="val 8000"/>
            </a:avLst>
          </a:prstGeom>
          <a:solidFill>
            <a:srgbClr val="19243A"/>
          </a:solidFill>
          <a:ln w="8890">
            <a:solidFill>
              <a:srgbClr val="2D3F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84048" y="4005072"/>
            <a:ext cx="5349240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4114800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/config Endpoint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599432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→  backend/config.py is single source of truth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5102352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→  MIN_AI_QUERY_LENGTH fetched by extension at startup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605272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→  Frontend + backend always enforce the same value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89320" y="4005072"/>
            <a:ext cx="5349240" cy="2286000"/>
          </a:xfrm>
          <a:prstGeom prst="roundRect">
            <a:avLst>
              <a:gd name="adj" fmla="val 8000"/>
            </a:avLst>
          </a:prstGeom>
          <a:solidFill>
            <a:srgbClr val="19243A"/>
          </a:solidFill>
          <a:ln w="8890">
            <a:solidFill>
              <a:srgbClr val="2D3F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89320" y="4005072"/>
            <a:ext cx="5349240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72200" y="4114800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8B5CF6"/>
                </a:solidFill>
              </a:rPr>
              <a:t>Relative Path Chunk IDs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599432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→  ID format: src/auth.py::verify_token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5102352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→  Portable — works after folder moves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5605272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→  Consistent across developer machines</a:t>
            </a:r>
          </a:p>
        </p:txBody>
      </p:sp>
    </p:spTree>
  </p:cSld>
  <p:clrMapOvr>
    <a:masterClrMapping/>
  </p:clrMapOvr>
  <p:transition spd="med" advTm="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4048" y="137160"/>
            <a:ext cx="1828800" cy="347472"/>
          </a:xfrm>
          <a:prstGeom prst="roundRect">
            <a:avLst>
              <a:gd name="adj" fmla="val 8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371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8FAFC"/>
                </a:solidFill>
              </a:rPr>
              <a:t>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</a:rPr>
              <a:t>Problems Faced &amp; How They Were Solved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35024"/>
            <a:ext cx="11155680" cy="16459"/>
          </a:xfrm>
          <a:prstGeom prst="rect">
            <a:avLst/>
          </a:prstGeom>
          <a:solidFill>
            <a:srgbClr val="3D5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84048" y="1508760"/>
            <a:ext cx="3520440" cy="1920240"/>
          </a:xfrm>
          <a:prstGeom prst="roundRect">
            <a:avLst>
              <a:gd name="adj" fmla="val 8000"/>
            </a:avLst>
          </a:prstGeom>
          <a:solidFill>
            <a:srgbClr val="19243A"/>
          </a:solidFill>
          <a:ln w="8890">
            <a:solidFill>
              <a:srgbClr val="2D3F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21208" y="1636776"/>
            <a:ext cx="320040" cy="320040"/>
          </a:xfrm>
          <a:prstGeom prst="roundRect">
            <a:avLst>
              <a:gd name="adj" fmla="val 8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" y="163677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8FAFC"/>
                </a:solidFill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636776"/>
            <a:ext cx="2862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8FAFC"/>
                </a:solidFill>
              </a:rPr>
              <a:t>Null IDs crashing Pinecone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" y="2057400"/>
            <a:ext cx="3246120" cy="18288"/>
          </a:xfrm>
          <a:prstGeom prst="rect">
            <a:avLst/>
          </a:prstGeom>
          <a:solidFill>
            <a:srgbClr val="3D5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148840"/>
            <a:ext cx="3246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Filter at both TS + Python layers:
id is string and id.length &gt; 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96512" y="1508760"/>
            <a:ext cx="3520440" cy="1920240"/>
          </a:xfrm>
          <a:prstGeom prst="roundRect">
            <a:avLst>
              <a:gd name="adj" fmla="val 8000"/>
            </a:avLst>
          </a:prstGeom>
          <a:solidFill>
            <a:srgbClr val="19243A"/>
          </a:solidFill>
          <a:ln w="8890">
            <a:solidFill>
              <a:srgbClr val="2D3F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233672" y="1636776"/>
            <a:ext cx="320040" cy="320040"/>
          </a:xfrm>
          <a:prstGeom prst="roundRect">
            <a:avLst>
              <a:gd name="adj" fmla="val 8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33672" y="163677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8FAFC"/>
                </a:solidFill>
              </a:rP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1636776"/>
            <a:ext cx="2862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8FAFC"/>
                </a:solidFill>
              </a:rPr>
              <a:t>30+ min first-run indexing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33672" y="2057400"/>
            <a:ext cx="3246120" cy="18288"/>
          </a:xfrm>
          <a:prstGeom prst="rect">
            <a:avLst/>
          </a:prstGeom>
          <a:solidFill>
            <a:srgbClr val="3D5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61104" y="2148840"/>
            <a:ext cx="3246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Two-phase batching: 200 s → 4 s
for 100 functions (50× speedup)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1508760"/>
            <a:ext cx="3520440" cy="1920240"/>
          </a:xfrm>
          <a:prstGeom prst="roundRect">
            <a:avLst>
              <a:gd name="adj" fmla="val 8000"/>
            </a:avLst>
          </a:prstGeom>
          <a:solidFill>
            <a:srgbClr val="19243A"/>
          </a:solidFill>
          <a:ln w="8890">
            <a:solidFill>
              <a:srgbClr val="2D3F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955280" y="1636776"/>
            <a:ext cx="320040" cy="320040"/>
          </a:xfrm>
          <a:prstGeom prst="roundRect">
            <a:avLst>
              <a:gd name="adj" fmla="val 8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80" y="163677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8FAFC"/>
                </a:solidFill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1636776"/>
            <a:ext cx="2862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8FAFC"/>
                </a:solidFill>
              </a:rPr>
              <a:t>Class chunks polluting results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80" y="2057400"/>
            <a:ext cx="3246120" cy="18288"/>
          </a:xfrm>
          <a:prstGeom prst="rect">
            <a:avLst/>
          </a:prstGeom>
          <a:solidFill>
            <a:srgbClr val="3D5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82712" y="2148840"/>
            <a:ext cx="3246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Filter c.type !== 'class' before
embedding — methods indexed, not wrappers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3639312"/>
            <a:ext cx="3520440" cy="1920240"/>
          </a:xfrm>
          <a:prstGeom prst="roundRect">
            <a:avLst>
              <a:gd name="adj" fmla="val 8000"/>
            </a:avLst>
          </a:prstGeom>
          <a:solidFill>
            <a:srgbClr val="19243A"/>
          </a:solidFill>
          <a:ln w="8890">
            <a:solidFill>
              <a:srgbClr val="2D3F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21208" y="3767328"/>
            <a:ext cx="320040" cy="320040"/>
          </a:xfrm>
          <a:prstGeom prst="roundRect">
            <a:avLst>
              <a:gd name="adj" fmla="val 8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1208" y="376732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8FAFC"/>
                </a:solidFill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3767328"/>
            <a:ext cx="2862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8FAFC"/>
                </a:solidFill>
              </a:rPr>
              <a:t>Progress lost on crash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1208" y="4187952"/>
            <a:ext cx="3246120" cy="18288"/>
          </a:xfrm>
          <a:prstGeom prst="rect">
            <a:avLst/>
          </a:prstGeom>
          <a:solidFill>
            <a:srgbClr val="3D5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4279392"/>
            <a:ext cx="3246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Save index.json after every batch
→ resume from last checkpoint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96512" y="3639312"/>
            <a:ext cx="3520440" cy="1920240"/>
          </a:xfrm>
          <a:prstGeom prst="roundRect">
            <a:avLst>
              <a:gd name="adj" fmla="val 8000"/>
            </a:avLst>
          </a:prstGeom>
          <a:solidFill>
            <a:srgbClr val="19243A"/>
          </a:solidFill>
          <a:ln w="8890">
            <a:solidFill>
              <a:srgbClr val="2D3F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233672" y="3767328"/>
            <a:ext cx="320040" cy="320040"/>
          </a:xfrm>
          <a:prstGeom prst="roundRect">
            <a:avLst>
              <a:gd name="adj" fmla="val 8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33672" y="376732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8FAFC"/>
                </a:solidFill>
              </a:rPr>
              <a:t>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5152" y="3767328"/>
            <a:ext cx="2862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8FAFC"/>
                </a:solidFill>
              </a:rPr>
              <a:t>Search blocked by indexing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33672" y="4187952"/>
            <a:ext cx="3246120" cy="18288"/>
          </a:xfrm>
          <a:prstGeom prst="rect">
            <a:avLst/>
          </a:prstGeom>
          <a:solidFill>
            <a:srgbClr val="3D5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261104" y="4279392"/>
            <a:ext cx="3246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ThreadingHTTPServer: one thread per
request, search + index run in parallel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18120" y="3639312"/>
            <a:ext cx="3520440" cy="1920240"/>
          </a:xfrm>
          <a:prstGeom prst="roundRect">
            <a:avLst>
              <a:gd name="adj" fmla="val 8000"/>
            </a:avLst>
          </a:prstGeom>
          <a:solidFill>
            <a:srgbClr val="19243A"/>
          </a:solidFill>
          <a:ln w="8890">
            <a:solidFill>
              <a:srgbClr val="2D3F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7955280" y="3767328"/>
            <a:ext cx="320040" cy="320040"/>
          </a:xfrm>
          <a:prstGeom prst="roundRect">
            <a:avLst>
              <a:gd name="adj" fmla="val 8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955280" y="376732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8FAFC"/>
                </a:solidFill>
              </a:rPr>
              <a:t>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3767328"/>
            <a:ext cx="2862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8FAFC"/>
                </a:solidFill>
              </a:rPr>
              <a:t>Config drift across layers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55280" y="4187952"/>
            <a:ext cx="3246120" cy="18288"/>
          </a:xfrm>
          <a:prstGeom prst="rect">
            <a:avLst/>
          </a:prstGeom>
          <a:solidFill>
            <a:srgbClr val="3D5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982712" y="4279392"/>
            <a:ext cx="3246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/config endpoint: single number in
config.py, all layers read from it</a:t>
            </a:r>
          </a:p>
        </p:txBody>
      </p:sp>
    </p:spTree>
  </p:cSld>
  <p:clrMapOvr>
    <a:masterClrMapping/>
  </p:clrMapOvr>
  <p:transition spd="med" advTm="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>
            <a:extLst>
              <a:ext uri="{FF2B5EF4-FFF2-40B4-BE49-F238E27FC236}">
                <a16:creationId xmlns:a16="http://schemas.microsoft.com/office/drawing/2014/main" id="{31A59536-5FFD-12F9-F92A-EE43022D1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212" y="1796957"/>
            <a:ext cx="7772400" cy="3264085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5A8C0E9D-C67A-8BE7-E90F-86A7247A6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4763" y="5398319"/>
            <a:ext cx="29845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888666"/>
      </p:ext>
    </p:extLst>
  </p:cSld>
  <p:clrMapOvr>
    <a:masterClrMapping/>
  </p:clrMapOvr>
  <p:transition spd="med" advTm="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8E2F33-1F39-21A8-9EFD-98DDFF435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212" y="610730"/>
            <a:ext cx="7772400" cy="5636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010098"/>
      </p:ext>
    </p:extLst>
  </p:cSld>
  <p:clrMapOvr>
    <a:masterClrMapping/>
  </p:clrMapOvr>
  <p:transition spd="med" advTm="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4647FFB-4C87-33B1-DE5F-957DDE7F3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212" y="277479"/>
            <a:ext cx="7772400" cy="6303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694390"/>
      </p:ext>
    </p:extLst>
  </p:cSld>
  <p:clrMapOvr>
    <a:masterClrMapping/>
  </p:clrMapOvr>
  <p:transition spd="med" advTm="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EB257A-57B5-41F3-7F74-E1A213482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212" y="764306"/>
            <a:ext cx="7772400" cy="5329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236419"/>
      </p:ext>
    </p:extLst>
  </p:cSld>
  <p:clrMapOvr>
    <a:masterClrMapping/>
  </p:clrMapOvr>
  <p:transition spd="med" advTm="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4048" y="137160"/>
            <a:ext cx="1828800" cy="347472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371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8FAFC"/>
                </a:solidFill>
              </a:rPr>
              <a:t>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</a:rPr>
              <a:t>What Comes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35024"/>
            <a:ext cx="11155680" cy="16459"/>
          </a:xfrm>
          <a:prstGeom prst="rect">
            <a:avLst/>
          </a:prstGeom>
          <a:solidFill>
            <a:srgbClr val="3D5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48640" y="1563624"/>
            <a:ext cx="585216" cy="585216"/>
          </a:xfrm>
          <a:prstGeom prst="ellipse">
            <a:avLst/>
          </a:prstGeom>
          <a:solidFill>
            <a:srgbClr val="387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563624"/>
            <a:ext cx="58521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8FAFC"/>
                </a:solidFill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98448" y="1508760"/>
            <a:ext cx="10424160" cy="777240"/>
          </a:xfrm>
          <a:prstGeom prst="roundRect">
            <a:avLst>
              <a:gd name="adj" fmla="val 8000"/>
            </a:avLst>
          </a:prstGeom>
          <a:solidFill>
            <a:srgbClr val="19243A"/>
          </a:solidFill>
          <a:ln w="6350">
            <a:solidFill>
              <a:srgbClr val="2D3F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98448" y="1508760"/>
            <a:ext cx="50292" cy="777240"/>
          </a:xfrm>
          <a:prstGeom prst="rect">
            <a:avLst/>
          </a:prstGeom>
          <a:solidFill>
            <a:srgbClr val="387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08760" y="155448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7EF5"/>
                </a:solidFill>
              </a:rPr>
              <a:t>Remote Backend Hosting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581912"/>
            <a:ext cx="6949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Eliminate local Python setup. One config change (backendUrl) points extension at cloud.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496312"/>
            <a:ext cx="585216" cy="585216"/>
          </a:xfrm>
          <a:prstGeom prst="ellipse">
            <a:avLst/>
          </a:prstGeom>
          <a:solidFill>
            <a:srgbClr val="0DB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496312"/>
            <a:ext cx="58521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8FAFC"/>
                </a:solidFill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98448" y="2441448"/>
            <a:ext cx="10424160" cy="777240"/>
          </a:xfrm>
          <a:prstGeom prst="roundRect">
            <a:avLst>
              <a:gd name="adj" fmla="val 8000"/>
            </a:avLst>
          </a:prstGeom>
          <a:solidFill>
            <a:srgbClr val="19243A"/>
          </a:solidFill>
          <a:ln w="6350">
            <a:solidFill>
              <a:srgbClr val="2D3F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298448" y="2441448"/>
            <a:ext cx="50292" cy="777240"/>
          </a:xfrm>
          <a:prstGeom prst="rect">
            <a:avLst/>
          </a:prstGeom>
          <a:solidFill>
            <a:srgbClr val="0DB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08760" y="248716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B57C"/>
                </a:solidFill>
              </a:rPr>
              <a:t>Git Branch-Aware Indexing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514600"/>
            <a:ext cx="6949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Detect branch switches via VS Code Git API, compare changed files between branches.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3429000"/>
            <a:ext cx="585216" cy="58521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429000"/>
            <a:ext cx="58521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8FAFC"/>
                </a:solidFill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98448" y="3374136"/>
            <a:ext cx="10424160" cy="777240"/>
          </a:xfrm>
          <a:prstGeom prst="roundRect">
            <a:avLst>
              <a:gd name="adj" fmla="val 8000"/>
            </a:avLst>
          </a:prstGeom>
          <a:solidFill>
            <a:srgbClr val="19243A"/>
          </a:solidFill>
          <a:ln w="6350">
            <a:solidFill>
              <a:srgbClr val="2D3F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98448" y="3374136"/>
            <a:ext cx="50292" cy="7772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508760" y="3419856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Cross-Function Semantic Linking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3447288"/>
            <a:ext cx="6949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Build call graph at index time. Boost scores of connected functions for flow queries.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" y="4361688"/>
            <a:ext cx="585216" cy="58521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4361688"/>
            <a:ext cx="58521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8FAFC"/>
                </a:solidFill>
              </a:rP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98448" y="4306824"/>
            <a:ext cx="10424160" cy="777240"/>
          </a:xfrm>
          <a:prstGeom prst="roundRect">
            <a:avLst>
              <a:gd name="adj" fmla="val 8000"/>
            </a:avLst>
          </a:prstGeom>
          <a:solidFill>
            <a:srgbClr val="19243A"/>
          </a:solidFill>
          <a:ln w="6350">
            <a:solidFill>
              <a:srgbClr val="2D3F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298448" y="4306824"/>
            <a:ext cx="50292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508760" y="4352544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Local Embedding Models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379976"/>
            <a:ext cx="6949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nomic-embed-code or CodeBERT via Ollama — offline/air-gapped use, only embedder.py changes.</a:t>
            </a:r>
          </a:p>
        </p:txBody>
      </p:sp>
      <p:sp>
        <p:nvSpPr>
          <p:cNvPr id="31" name="Oval 30"/>
          <p:cNvSpPr/>
          <p:nvPr/>
        </p:nvSpPr>
        <p:spPr>
          <a:xfrm>
            <a:off x="548640" y="5294376"/>
            <a:ext cx="585216" cy="585216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5294376"/>
            <a:ext cx="58521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8FAFC"/>
                </a:solidFill>
              </a:rPr>
              <a:t>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98448" y="5239512"/>
            <a:ext cx="10424160" cy="777240"/>
          </a:xfrm>
          <a:prstGeom prst="roundRect">
            <a:avLst>
              <a:gd name="adj" fmla="val 8000"/>
            </a:avLst>
          </a:prstGeom>
          <a:solidFill>
            <a:srgbClr val="19243A"/>
          </a:solidFill>
          <a:ln w="6350">
            <a:solidFill>
              <a:srgbClr val="2D3F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298448" y="5239512"/>
            <a:ext cx="50292" cy="77724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508760" y="528523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3F5E"/>
                </a:solidFill>
              </a:rPr>
              <a:t>Feedback-Based Ranking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5312664"/>
            <a:ext cx="6949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Track clicks and skips locally. Adjust threshold and weights per developer over time.</a:t>
            </a:r>
          </a:p>
        </p:txBody>
      </p:sp>
    </p:spTree>
  </p:cSld>
  <p:clrMapOvr>
    <a:masterClrMapping/>
  </p:clrMapOvr>
  <p:transition spd="med" advTm="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19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54864"/>
          </a:xfrm>
          <a:prstGeom prst="rect">
            <a:avLst/>
          </a:prstGeom>
          <a:solidFill>
            <a:srgbClr val="387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69296" y="356616"/>
            <a:ext cx="292608" cy="292608"/>
          </a:xfrm>
          <a:prstGeom prst="ellipse">
            <a:avLst/>
          </a:prstGeom>
          <a:solidFill>
            <a:srgbClr val="387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844784" y="356616"/>
            <a:ext cx="292608" cy="292608"/>
          </a:xfrm>
          <a:prstGeom prst="ellipse">
            <a:avLst/>
          </a:prstGeom>
          <a:solidFill>
            <a:srgbClr val="0DB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320272" y="356616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795760" y="356616"/>
            <a:ext cx="292608" cy="29260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</a:rPr>
              <a:t>What Was Built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0584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F8FAFC"/>
                </a:solidFill>
              </a:rPr>
              <a:t>Smart Search</a:t>
            </a:r>
          </a:p>
        </p:txBody>
      </p:sp>
      <p:sp>
        <p:nvSpPr>
          <p:cNvPr id="10" name="Oval 9"/>
          <p:cNvSpPr/>
          <p:nvPr/>
        </p:nvSpPr>
        <p:spPr>
          <a:xfrm>
            <a:off x="557784" y="2340864"/>
            <a:ext cx="256032" cy="256032"/>
          </a:xfrm>
          <a:prstGeom prst="ellipse">
            <a:avLst/>
          </a:prstGeom>
          <a:solidFill>
            <a:srgbClr val="387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Semantic code search inside VS Code — finds functions by what they do</a:t>
            </a:r>
          </a:p>
        </p:txBody>
      </p:sp>
      <p:sp>
        <p:nvSpPr>
          <p:cNvPr id="12" name="Oval 11"/>
          <p:cNvSpPr/>
          <p:nvPr/>
        </p:nvSpPr>
        <p:spPr>
          <a:xfrm>
            <a:off x="557784" y="2825496"/>
            <a:ext cx="256032" cy="256032"/>
          </a:xfrm>
          <a:prstGeom prst="ellipse">
            <a:avLst/>
          </a:prstGeom>
          <a:solidFill>
            <a:srgbClr val="0DB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770632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Two-phase batching made first-run indexing 50× faster</a:t>
            </a:r>
          </a:p>
        </p:txBody>
      </p:sp>
      <p:sp>
        <p:nvSpPr>
          <p:cNvPr id="14" name="Oval 13"/>
          <p:cNvSpPr/>
          <p:nvPr/>
        </p:nvSpPr>
        <p:spPr>
          <a:xfrm>
            <a:off x="557784" y="3310128"/>
            <a:ext cx="256032" cy="25603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255264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GPT summaries improved cosine scores from ~46% to ~82%</a:t>
            </a:r>
          </a:p>
        </p:txBody>
      </p:sp>
      <p:sp>
        <p:nvSpPr>
          <p:cNvPr id="16" name="Oval 15"/>
          <p:cNvSpPr/>
          <p:nvPr/>
        </p:nvSpPr>
        <p:spPr>
          <a:xfrm>
            <a:off x="557784" y="3794760"/>
            <a:ext cx="256032" cy="256032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739896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MRR 0.92 — correct result is first in 5 of 6 conceptual queries</a:t>
            </a:r>
          </a:p>
        </p:txBody>
      </p:sp>
      <p:sp>
        <p:nvSpPr>
          <p:cNvPr id="18" name="Oval 17"/>
          <p:cNvSpPr/>
          <p:nvPr/>
        </p:nvSpPr>
        <p:spPr>
          <a:xfrm>
            <a:off x="557784" y="4279392"/>
            <a:ext cx="256032" cy="256032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22452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Crash-safe, concurrent, configuration-consistent production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32180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Nawfal Jalloul  ·  Master's Research Project  ·  May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521208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387EF5"/>
                </a:solidFill>
              </a:rPr>
              <a:t>Thank you</a:t>
            </a:r>
          </a:p>
        </p:txBody>
      </p:sp>
    </p:spTree>
  </p:cSld>
  <p:clrMapOvr>
    <a:masterClrMapping/>
  </p:clrMapOvr>
  <p:transition spd="med" advTm="0"/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</TotalTime>
  <Words>1291</Words>
  <Application>Microsoft Macintosh PowerPoint</Application>
  <PresentationFormat>Custom</PresentationFormat>
  <Paragraphs>230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Office User</cp:lastModifiedBy>
  <cp:revision>7</cp:revision>
  <dcterms:created xsi:type="dcterms:W3CDTF">2013-01-27T09:14:16Z</dcterms:created>
  <dcterms:modified xsi:type="dcterms:W3CDTF">2026-06-15T19:51:45Z</dcterms:modified>
  <cp:category/>
</cp:coreProperties>
</file>